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reward</c:v>
                </c:pt>
              </c:strCache>
            </c:strRef>
          </c:tx>
          <c:spPr>
            <a:ln w="28575">
              <a:solidFill>
                <a:srgbClr val="2A78D6"/>
              </a:solidFill>
            </a:ln>
          </c:spPr>
          <c:marker>
            <c:symbol val="none"/>
          </c:marker>
          <c:cat>
            <c:strRef>
              <c:f>Sheet1!$A$2:$A$151</c:f>
              <c:strCache>
                <c:ptCount val="150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  <c:pt idx="61">
                  <c:v>61</c:v>
                </c:pt>
                <c:pt idx="62">
                  <c:v>62</c:v>
                </c:pt>
                <c:pt idx="63">
                  <c:v>63</c:v>
                </c:pt>
                <c:pt idx="64">
                  <c:v>64</c:v>
                </c:pt>
                <c:pt idx="65">
                  <c:v>65</c:v>
                </c:pt>
                <c:pt idx="66">
                  <c:v>66</c:v>
                </c:pt>
                <c:pt idx="67">
                  <c:v>67</c:v>
                </c:pt>
                <c:pt idx="68">
                  <c:v>68</c:v>
                </c:pt>
                <c:pt idx="69">
                  <c:v>69</c:v>
                </c:pt>
                <c:pt idx="70">
                  <c:v>70</c:v>
                </c:pt>
                <c:pt idx="71">
                  <c:v>71</c:v>
                </c:pt>
                <c:pt idx="72">
                  <c:v>72</c:v>
                </c:pt>
                <c:pt idx="73">
                  <c:v>73</c:v>
                </c:pt>
                <c:pt idx="74">
                  <c:v>74</c:v>
                </c:pt>
                <c:pt idx="75">
                  <c:v>75</c:v>
                </c:pt>
                <c:pt idx="76">
                  <c:v>76</c:v>
                </c:pt>
                <c:pt idx="77">
                  <c:v>77</c:v>
                </c:pt>
                <c:pt idx="78">
                  <c:v>78</c:v>
                </c:pt>
                <c:pt idx="79">
                  <c:v>79</c:v>
                </c:pt>
                <c:pt idx="80">
                  <c:v>80</c:v>
                </c:pt>
                <c:pt idx="81">
                  <c:v>81</c:v>
                </c:pt>
                <c:pt idx="82">
                  <c:v>82</c:v>
                </c:pt>
                <c:pt idx="83">
                  <c:v>83</c:v>
                </c:pt>
                <c:pt idx="84">
                  <c:v>84</c:v>
                </c:pt>
                <c:pt idx="85">
                  <c:v>85</c:v>
                </c:pt>
                <c:pt idx="86">
                  <c:v>86</c:v>
                </c:pt>
                <c:pt idx="87">
                  <c:v>87</c:v>
                </c:pt>
                <c:pt idx="88">
                  <c:v>88</c:v>
                </c:pt>
                <c:pt idx="89">
                  <c:v>89</c:v>
                </c:pt>
                <c:pt idx="90">
                  <c:v>90</c:v>
                </c:pt>
                <c:pt idx="91">
                  <c:v>91</c:v>
                </c:pt>
                <c:pt idx="92">
                  <c:v>92</c:v>
                </c:pt>
                <c:pt idx="93">
                  <c:v>93</c:v>
                </c:pt>
                <c:pt idx="94">
                  <c:v>94</c:v>
                </c:pt>
                <c:pt idx="95">
                  <c:v>95</c:v>
                </c:pt>
                <c:pt idx="96">
                  <c:v>96</c:v>
                </c:pt>
                <c:pt idx="97">
                  <c:v>97</c:v>
                </c:pt>
                <c:pt idx="98">
                  <c:v>98</c:v>
                </c:pt>
                <c:pt idx="99">
                  <c:v>99</c:v>
                </c:pt>
                <c:pt idx="100">
                  <c:v>100</c:v>
                </c:pt>
                <c:pt idx="101">
                  <c:v>101</c:v>
                </c:pt>
                <c:pt idx="102">
                  <c:v>102</c:v>
                </c:pt>
                <c:pt idx="103">
                  <c:v>103</c:v>
                </c:pt>
                <c:pt idx="104">
                  <c:v>104</c:v>
                </c:pt>
                <c:pt idx="105">
                  <c:v>105</c:v>
                </c:pt>
                <c:pt idx="106">
                  <c:v>106</c:v>
                </c:pt>
                <c:pt idx="107">
                  <c:v>107</c:v>
                </c:pt>
                <c:pt idx="108">
                  <c:v>108</c:v>
                </c:pt>
                <c:pt idx="109">
                  <c:v>109</c:v>
                </c:pt>
                <c:pt idx="110">
                  <c:v>110</c:v>
                </c:pt>
                <c:pt idx="111">
                  <c:v>111</c:v>
                </c:pt>
                <c:pt idx="112">
                  <c:v>112</c:v>
                </c:pt>
                <c:pt idx="113">
                  <c:v>113</c:v>
                </c:pt>
                <c:pt idx="114">
                  <c:v>114</c:v>
                </c:pt>
                <c:pt idx="115">
                  <c:v>115</c:v>
                </c:pt>
                <c:pt idx="116">
                  <c:v>116</c:v>
                </c:pt>
                <c:pt idx="117">
                  <c:v>117</c:v>
                </c:pt>
                <c:pt idx="118">
                  <c:v>118</c:v>
                </c:pt>
                <c:pt idx="119">
                  <c:v>119</c:v>
                </c:pt>
                <c:pt idx="120">
                  <c:v>120</c:v>
                </c:pt>
                <c:pt idx="121">
                  <c:v>121</c:v>
                </c:pt>
                <c:pt idx="122">
                  <c:v>122</c:v>
                </c:pt>
                <c:pt idx="123">
                  <c:v>123</c:v>
                </c:pt>
                <c:pt idx="124">
                  <c:v>124</c:v>
                </c:pt>
                <c:pt idx="125">
                  <c:v>125</c:v>
                </c:pt>
                <c:pt idx="126">
                  <c:v>126</c:v>
                </c:pt>
                <c:pt idx="127">
                  <c:v>127</c:v>
                </c:pt>
                <c:pt idx="128">
                  <c:v>128</c:v>
                </c:pt>
                <c:pt idx="129">
                  <c:v>129</c:v>
                </c:pt>
                <c:pt idx="130">
                  <c:v>130</c:v>
                </c:pt>
                <c:pt idx="131">
                  <c:v>131</c:v>
                </c:pt>
                <c:pt idx="132">
                  <c:v>132</c:v>
                </c:pt>
                <c:pt idx="133">
                  <c:v>133</c:v>
                </c:pt>
                <c:pt idx="134">
                  <c:v>134</c:v>
                </c:pt>
                <c:pt idx="135">
                  <c:v>135</c:v>
                </c:pt>
                <c:pt idx="136">
                  <c:v>136</c:v>
                </c:pt>
                <c:pt idx="137">
                  <c:v>137</c:v>
                </c:pt>
                <c:pt idx="138">
                  <c:v>138</c:v>
                </c:pt>
                <c:pt idx="139">
                  <c:v>139</c:v>
                </c:pt>
                <c:pt idx="140">
                  <c:v>140</c:v>
                </c:pt>
                <c:pt idx="141">
                  <c:v>141</c:v>
                </c:pt>
                <c:pt idx="142">
                  <c:v>142</c:v>
                </c:pt>
                <c:pt idx="143">
                  <c:v>143</c:v>
                </c:pt>
                <c:pt idx="144">
                  <c:v>144</c:v>
                </c:pt>
                <c:pt idx="145">
                  <c:v>145</c:v>
                </c:pt>
                <c:pt idx="146">
                  <c:v>146</c:v>
                </c:pt>
                <c:pt idx="147">
                  <c:v>147</c:v>
                </c:pt>
                <c:pt idx="148">
                  <c:v>148</c:v>
                </c:pt>
                <c:pt idx="149">
                  <c:v>149</c:v>
                </c:pt>
              </c:strCache>
            </c:strRef>
          </c:cat>
          <c:val>
            <c:numRef>
              <c:f>Sheet1!$B$2:$B$151</c:f>
              <c:numCache>
                <c:formatCode>General</c:formatCode>
                <c:ptCount val="150"/>
                <c:pt idx="0">
                  <c:v>0.296</c:v>
                </c:pt>
                <c:pt idx="1">
                  <c:v>0.296</c:v>
                </c:pt>
                <c:pt idx="2">
                  <c:v>0.296</c:v>
                </c:pt>
                <c:pt idx="3">
                  <c:v>0.472</c:v>
                </c:pt>
                <c:pt idx="4">
                  <c:v>0.472</c:v>
                </c:pt>
                <c:pt idx="5">
                  <c:v>0.472</c:v>
                </c:pt>
                <c:pt idx="6">
                  <c:v>0.456</c:v>
                </c:pt>
                <c:pt idx="7">
                  <c:v>0.456</c:v>
                </c:pt>
                <c:pt idx="8">
                  <c:v>0.456</c:v>
                </c:pt>
                <c:pt idx="9">
                  <c:v>0.401</c:v>
                </c:pt>
                <c:pt idx="10">
                  <c:v>0.401</c:v>
                </c:pt>
                <c:pt idx="11">
                  <c:v>0.401</c:v>
                </c:pt>
                <c:pt idx="12">
                  <c:v>0.516</c:v>
                </c:pt>
                <c:pt idx="13">
                  <c:v>0.516</c:v>
                </c:pt>
                <c:pt idx="14">
                  <c:v>0.516</c:v>
                </c:pt>
                <c:pt idx="15">
                  <c:v>0.428</c:v>
                </c:pt>
                <c:pt idx="16">
                  <c:v>0.428</c:v>
                </c:pt>
                <c:pt idx="17">
                  <c:v>0.428</c:v>
                </c:pt>
                <c:pt idx="18">
                  <c:v>0.455</c:v>
                </c:pt>
                <c:pt idx="19">
                  <c:v>0.455</c:v>
                </c:pt>
                <c:pt idx="20">
                  <c:v>0.455</c:v>
                </c:pt>
                <c:pt idx="21">
                  <c:v>0.388</c:v>
                </c:pt>
                <c:pt idx="22">
                  <c:v>0.388</c:v>
                </c:pt>
                <c:pt idx="23">
                  <c:v>0.388</c:v>
                </c:pt>
                <c:pt idx="24">
                  <c:v>0.524</c:v>
                </c:pt>
                <c:pt idx="25">
                  <c:v>0.524</c:v>
                </c:pt>
                <c:pt idx="26">
                  <c:v>0.524</c:v>
                </c:pt>
                <c:pt idx="27">
                  <c:v>0.489</c:v>
                </c:pt>
                <c:pt idx="28">
                  <c:v>0.489</c:v>
                </c:pt>
                <c:pt idx="29">
                  <c:v>0.489</c:v>
                </c:pt>
                <c:pt idx="30">
                  <c:v>0.478</c:v>
                </c:pt>
                <c:pt idx="31">
                  <c:v>0.478</c:v>
                </c:pt>
                <c:pt idx="32">
                  <c:v>0.478</c:v>
                </c:pt>
                <c:pt idx="33">
                  <c:v>0.533</c:v>
                </c:pt>
                <c:pt idx="34">
                  <c:v>0.533</c:v>
                </c:pt>
                <c:pt idx="35">
                  <c:v>0.533</c:v>
                </c:pt>
                <c:pt idx="36">
                  <c:v>0.594</c:v>
                </c:pt>
                <c:pt idx="37">
                  <c:v>0.594</c:v>
                </c:pt>
                <c:pt idx="38">
                  <c:v>0.594</c:v>
                </c:pt>
                <c:pt idx="39">
                  <c:v>0.57</c:v>
                </c:pt>
                <c:pt idx="40">
                  <c:v>0.57</c:v>
                </c:pt>
                <c:pt idx="41">
                  <c:v>0.57</c:v>
                </c:pt>
                <c:pt idx="42">
                  <c:v>0.544</c:v>
                </c:pt>
                <c:pt idx="43">
                  <c:v>0.544</c:v>
                </c:pt>
                <c:pt idx="44">
                  <c:v>0.544</c:v>
                </c:pt>
                <c:pt idx="45">
                  <c:v>0.554</c:v>
                </c:pt>
                <c:pt idx="46">
                  <c:v>0.554</c:v>
                </c:pt>
                <c:pt idx="47">
                  <c:v>0.554</c:v>
                </c:pt>
                <c:pt idx="48">
                  <c:v>0.477</c:v>
                </c:pt>
                <c:pt idx="49">
                  <c:v>0.477</c:v>
                </c:pt>
                <c:pt idx="50">
                  <c:v>0.477</c:v>
                </c:pt>
                <c:pt idx="51">
                  <c:v>0.574</c:v>
                </c:pt>
                <c:pt idx="52">
                  <c:v>0.574</c:v>
                </c:pt>
                <c:pt idx="53">
                  <c:v>0.574</c:v>
                </c:pt>
                <c:pt idx="54">
                  <c:v>0.616</c:v>
                </c:pt>
                <c:pt idx="55">
                  <c:v>0.616</c:v>
                </c:pt>
                <c:pt idx="56">
                  <c:v>0.616</c:v>
                </c:pt>
                <c:pt idx="57">
                  <c:v>0.607</c:v>
                </c:pt>
                <c:pt idx="58">
                  <c:v>0.607</c:v>
                </c:pt>
                <c:pt idx="59">
                  <c:v>0.607</c:v>
                </c:pt>
                <c:pt idx="60">
                  <c:v>0.591</c:v>
                </c:pt>
                <c:pt idx="61">
                  <c:v>0.591</c:v>
                </c:pt>
                <c:pt idx="62">
                  <c:v>0.591</c:v>
                </c:pt>
                <c:pt idx="63">
                  <c:v>0.641</c:v>
                </c:pt>
                <c:pt idx="64">
                  <c:v>0.641</c:v>
                </c:pt>
                <c:pt idx="65">
                  <c:v>0.641</c:v>
                </c:pt>
                <c:pt idx="66">
                  <c:v>0.573</c:v>
                </c:pt>
                <c:pt idx="67">
                  <c:v>0.573</c:v>
                </c:pt>
                <c:pt idx="68">
                  <c:v>0.573</c:v>
                </c:pt>
                <c:pt idx="69">
                  <c:v>0.592</c:v>
                </c:pt>
                <c:pt idx="70">
                  <c:v>0.592</c:v>
                </c:pt>
                <c:pt idx="71">
                  <c:v>0.592</c:v>
                </c:pt>
                <c:pt idx="72">
                  <c:v>0.616</c:v>
                </c:pt>
                <c:pt idx="73">
                  <c:v>0.616</c:v>
                </c:pt>
                <c:pt idx="74">
                  <c:v>0.616</c:v>
                </c:pt>
                <c:pt idx="75">
                  <c:v>0.628</c:v>
                </c:pt>
                <c:pt idx="76">
                  <c:v>0.628</c:v>
                </c:pt>
                <c:pt idx="77">
                  <c:v>0.628</c:v>
                </c:pt>
                <c:pt idx="78">
                  <c:v>0.566</c:v>
                </c:pt>
                <c:pt idx="79">
                  <c:v>0.566</c:v>
                </c:pt>
                <c:pt idx="80">
                  <c:v>0.566</c:v>
                </c:pt>
                <c:pt idx="81">
                  <c:v>0.57</c:v>
                </c:pt>
                <c:pt idx="82">
                  <c:v>0.57</c:v>
                </c:pt>
                <c:pt idx="83">
                  <c:v>0.57</c:v>
                </c:pt>
                <c:pt idx="84">
                  <c:v>0.591</c:v>
                </c:pt>
                <c:pt idx="85">
                  <c:v>0.591</c:v>
                </c:pt>
                <c:pt idx="86">
                  <c:v>0.591</c:v>
                </c:pt>
                <c:pt idx="87">
                  <c:v>0.578</c:v>
                </c:pt>
                <c:pt idx="88">
                  <c:v>0.578</c:v>
                </c:pt>
                <c:pt idx="89">
                  <c:v>0.578</c:v>
                </c:pt>
                <c:pt idx="90">
                  <c:v>0.608</c:v>
                </c:pt>
                <c:pt idx="91">
                  <c:v>0.608</c:v>
                </c:pt>
                <c:pt idx="92">
                  <c:v>0.608</c:v>
                </c:pt>
                <c:pt idx="93">
                  <c:v>0.668</c:v>
                </c:pt>
                <c:pt idx="94">
                  <c:v>0.668</c:v>
                </c:pt>
                <c:pt idx="95">
                  <c:v>0.668</c:v>
                </c:pt>
                <c:pt idx="96">
                  <c:v>0.689</c:v>
                </c:pt>
                <c:pt idx="97">
                  <c:v>0.689</c:v>
                </c:pt>
                <c:pt idx="98">
                  <c:v>0.689</c:v>
                </c:pt>
                <c:pt idx="99">
                  <c:v>0.649</c:v>
                </c:pt>
                <c:pt idx="100">
                  <c:v>0.649</c:v>
                </c:pt>
                <c:pt idx="101">
                  <c:v>0.649</c:v>
                </c:pt>
                <c:pt idx="102">
                  <c:v>0.659</c:v>
                </c:pt>
                <c:pt idx="103">
                  <c:v>0.659</c:v>
                </c:pt>
                <c:pt idx="104">
                  <c:v>0.659</c:v>
                </c:pt>
                <c:pt idx="105">
                  <c:v>0.677</c:v>
                </c:pt>
                <c:pt idx="106">
                  <c:v>0.677</c:v>
                </c:pt>
                <c:pt idx="107">
                  <c:v>0.677</c:v>
                </c:pt>
                <c:pt idx="108">
                  <c:v>0.686</c:v>
                </c:pt>
                <c:pt idx="109">
                  <c:v>0.686</c:v>
                </c:pt>
                <c:pt idx="110">
                  <c:v>0.686</c:v>
                </c:pt>
                <c:pt idx="111">
                  <c:v>0.686</c:v>
                </c:pt>
                <c:pt idx="112">
                  <c:v>0.686</c:v>
                </c:pt>
                <c:pt idx="113">
                  <c:v>0.686</c:v>
                </c:pt>
                <c:pt idx="114">
                  <c:v>0.634</c:v>
                </c:pt>
                <c:pt idx="115">
                  <c:v>0.634</c:v>
                </c:pt>
                <c:pt idx="116">
                  <c:v>0.634</c:v>
                </c:pt>
                <c:pt idx="117">
                  <c:v>0.657</c:v>
                </c:pt>
                <c:pt idx="118">
                  <c:v>0.657</c:v>
                </c:pt>
                <c:pt idx="119">
                  <c:v>0.657</c:v>
                </c:pt>
                <c:pt idx="120">
                  <c:v>0.632</c:v>
                </c:pt>
                <c:pt idx="121">
                  <c:v>0.632</c:v>
                </c:pt>
                <c:pt idx="122">
                  <c:v>0.632</c:v>
                </c:pt>
                <c:pt idx="123">
                  <c:v>0.638</c:v>
                </c:pt>
                <c:pt idx="124">
                  <c:v>0.638</c:v>
                </c:pt>
                <c:pt idx="125">
                  <c:v>0.638</c:v>
                </c:pt>
                <c:pt idx="126">
                  <c:v>0.637</c:v>
                </c:pt>
                <c:pt idx="127">
                  <c:v>0.637</c:v>
                </c:pt>
                <c:pt idx="128">
                  <c:v>0.637</c:v>
                </c:pt>
                <c:pt idx="129">
                  <c:v>0.63</c:v>
                </c:pt>
                <c:pt idx="130">
                  <c:v>0.63</c:v>
                </c:pt>
                <c:pt idx="131">
                  <c:v>0.63</c:v>
                </c:pt>
                <c:pt idx="132">
                  <c:v>0.669</c:v>
                </c:pt>
                <c:pt idx="133">
                  <c:v>0.669</c:v>
                </c:pt>
                <c:pt idx="134">
                  <c:v>0.669</c:v>
                </c:pt>
                <c:pt idx="135">
                  <c:v>0.67</c:v>
                </c:pt>
                <c:pt idx="136">
                  <c:v>0.67</c:v>
                </c:pt>
                <c:pt idx="137">
                  <c:v>0.67</c:v>
                </c:pt>
                <c:pt idx="138">
                  <c:v>0.719</c:v>
                </c:pt>
                <c:pt idx="139">
                  <c:v>0.719</c:v>
                </c:pt>
                <c:pt idx="140">
                  <c:v>0.719</c:v>
                </c:pt>
                <c:pt idx="141">
                  <c:v>0.677</c:v>
                </c:pt>
                <c:pt idx="142">
                  <c:v>0.677</c:v>
                </c:pt>
                <c:pt idx="143">
                  <c:v>0.677</c:v>
                </c:pt>
                <c:pt idx="144">
                  <c:v>0.687</c:v>
                </c:pt>
                <c:pt idx="145">
                  <c:v>0.687</c:v>
                </c:pt>
                <c:pt idx="146">
                  <c:v>0.687</c:v>
                </c:pt>
                <c:pt idx="147">
                  <c:v>0.698</c:v>
                </c:pt>
                <c:pt idx="148">
                  <c:v>0.698</c:v>
                </c:pt>
                <c:pt idx="149">
                  <c:v>0.698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sz="1100" b="1">
                    <a:solidFill>
                      <a:srgbClr val="4C5566"/>
                    </a:solidFill>
                    <a:latin typeface="Arial"/>
                  </a:rPr>
                  <a:t>update step</a:t>
                </a:r>
              </a:p>
            </c:rich>
          </c:tx>
          <c:layout/>
          <c:overlay val="0"/>
        </c:title>
        <c:majorTickMark val="none"/>
        <c:minorTickMark val="none"/>
        <c:tickLblPos val="nextTo"/>
        <c:spPr>
          <a:ln>
            <a:solidFill>
              <a:srgbClr val="E2E5EA"/>
            </a:solidFill>
          </a:ln>
        </c:spPr>
        <c:txPr>
          <a:bodyPr/>
          <a:lstStyle/>
          <a:p>
            <a:pPr>
              <a:defRPr sz="800">
                <a:solidFill>
                  <a:srgbClr val="8B94A6"/>
                </a:solidFill>
                <a:latin typeface="Arial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0.75"/>
          <c:min val="0.2"/>
        </c:scaling>
        <c:delete val="0"/>
        <c:axPos val="l"/>
        <c:majorGridlines>
          <c:spPr>
            <a:ln w="9525">
              <a:solidFill>
                <a:srgbClr val="ECEEF2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100" b="1">
                    <a:solidFill>
                      <a:srgbClr val="4C5566"/>
                    </a:solidFill>
                    <a:latin typeface="Arial"/>
                  </a:rPr>
                  <a:t>mean reward (0–1)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spPr>
          <a:ln>
            <a:solidFill>
              <a:srgbClr val="E2E5EA"/>
            </a:solidFill>
          </a:ln>
        </c:spPr>
        <c:txPr>
          <a:bodyPr/>
          <a:lstStyle/>
          <a:p>
            <a:pPr>
              <a:defRPr sz="1000">
                <a:solidFill>
                  <a:srgbClr val="8B94A6"/>
                </a:solidFill>
                <a:latin typeface="Arial"/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loss</c:v>
                </c:pt>
              </c:strCache>
            </c:strRef>
          </c:tx>
          <c:spPr>
            <a:ln w="28575">
              <a:solidFill>
                <a:srgbClr val="EB6834"/>
              </a:solidFill>
            </a:ln>
          </c:spPr>
          <c:marker>
            <c:symbol val="none"/>
          </c:marker>
          <c:cat>
            <c:strRef>
              <c:f>Sheet1!$A$2:$A$151</c:f>
              <c:strCache>
                <c:ptCount val="150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  <c:pt idx="61">
                  <c:v>61</c:v>
                </c:pt>
                <c:pt idx="62">
                  <c:v>62</c:v>
                </c:pt>
                <c:pt idx="63">
                  <c:v>63</c:v>
                </c:pt>
                <c:pt idx="64">
                  <c:v>64</c:v>
                </c:pt>
                <c:pt idx="65">
                  <c:v>65</c:v>
                </c:pt>
                <c:pt idx="66">
                  <c:v>66</c:v>
                </c:pt>
                <c:pt idx="67">
                  <c:v>67</c:v>
                </c:pt>
                <c:pt idx="68">
                  <c:v>68</c:v>
                </c:pt>
                <c:pt idx="69">
                  <c:v>69</c:v>
                </c:pt>
                <c:pt idx="70">
                  <c:v>70</c:v>
                </c:pt>
                <c:pt idx="71">
                  <c:v>71</c:v>
                </c:pt>
                <c:pt idx="72">
                  <c:v>72</c:v>
                </c:pt>
                <c:pt idx="73">
                  <c:v>73</c:v>
                </c:pt>
                <c:pt idx="74">
                  <c:v>74</c:v>
                </c:pt>
                <c:pt idx="75">
                  <c:v>75</c:v>
                </c:pt>
                <c:pt idx="76">
                  <c:v>76</c:v>
                </c:pt>
                <c:pt idx="77">
                  <c:v>77</c:v>
                </c:pt>
                <c:pt idx="78">
                  <c:v>78</c:v>
                </c:pt>
                <c:pt idx="79">
                  <c:v>79</c:v>
                </c:pt>
                <c:pt idx="80">
                  <c:v>80</c:v>
                </c:pt>
                <c:pt idx="81">
                  <c:v>81</c:v>
                </c:pt>
                <c:pt idx="82">
                  <c:v>82</c:v>
                </c:pt>
                <c:pt idx="83">
                  <c:v>83</c:v>
                </c:pt>
                <c:pt idx="84">
                  <c:v>84</c:v>
                </c:pt>
                <c:pt idx="85">
                  <c:v>85</c:v>
                </c:pt>
                <c:pt idx="86">
                  <c:v>86</c:v>
                </c:pt>
                <c:pt idx="87">
                  <c:v>87</c:v>
                </c:pt>
                <c:pt idx="88">
                  <c:v>88</c:v>
                </c:pt>
                <c:pt idx="89">
                  <c:v>89</c:v>
                </c:pt>
                <c:pt idx="90">
                  <c:v>90</c:v>
                </c:pt>
                <c:pt idx="91">
                  <c:v>91</c:v>
                </c:pt>
                <c:pt idx="92">
                  <c:v>92</c:v>
                </c:pt>
                <c:pt idx="93">
                  <c:v>93</c:v>
                </c:pt>
                <c:pt idx="94">
                  <c:v>94</c:v>
                </c:pt>
                <c:pt idx="95">
                  <c:v>95</c:v>
                </c:pt>
                <c:pt idx="96">
                  <c:v>96</c:v>
                </c:pt>
                <c:pt idx="97">
                  <c:v>97</c:v>
                </c:pt>
                <c:pt idx="98">
                  <c:v>98</c:v>
                </c:pt>
                <c:pt idx="99">
                  <c:v>99</c:v>
                </c:pt>
                <c:pt idx="100">
                  <c:v>100</c:v>
                </c:pt>
                <c:pt idx="101">
                  <c:v>101</c:v>
                </c:pt>
                <c:pt idx="102">
                  <c:v>102</c:v>
                </c:pt>
                <c:pt idx="103">
                  <c:v>103</c:v>
                </c:pt>
                <c:pt idx="104">
                  <c:v>104</c:v>
                </c:pt>
                <c:pt idx="105">
                  <c:v>105</c:v>
                </c:pt>
                <c:pt idx="106">
                  <c:v>106</c:v>
                </c:pt>
                <c:pt idx="107">
                  <c:v>107</c:v>
                </c:pt>
                <c:pt idx="108">
                  <c:v>108</c:v>
                </c:pt>
                <c:pt idx="109">
                  <c:v>109</c:v>
                </c:pt>
                <c:pt idx="110">
                  <c:v>110</c:v>
                </c:pt>
                <c:pt idx="111">
                  <c:v>111</c:v>
                </c:pt>
                <c:pt idx="112">
                  <c:v>112</c:v>
                </c:pt>
                <c:pt idx="113">
                  <c:v>113</c:v>
                </c:pt>
                <c:pt idx="114">
                  <c:v>114</c:v>
                </c:pt>
                <c:pt idx="115">
                  <c:v>115</c:v>
                </c:pt>
                <c:pt idx="116">
                  <c:v>116</c:v>
                </c:pt>
                <c:pt idx="117">
                  <c:v>117</c:v>
                </c:pt>
                <c:pt idx="118">
                  <c:v>118</c:v>
                </c:pt>
                <c:pt idx="119">
                  <c:v>119</c:v>
                </c:pt>
                <c:pt idx="120">
                  <c:v>120</c:v>
                </c:pt>
                <c:pt idx="121">
                  <c:v>121</c:v>
                </c:pt>
                <c:pt idx="122">
                  <c:v>122</c:v>
                </c:pt>
                <c:pt idx="123">
                  <c:v>123</c:v>
                </c:pt>
                <c:pt idx="124">
                  <c:v>124</c:v>
                </c:pt>
                <c:pt idx="125">
                  <c:v>125</c:v>
                </c:pt>
                <c:pt idx="126">
                  <c:v>126</c:v>
                </c:pt>
                <c:pt idx="127">
                  <c:v>127</c:v>
                </c:pt>
                <c:pt idx="128">
                  <c:v>128</c:v>
                </c:pt>
                <c:pt idx="129">
                  <c:v>129</c:v>
                </c:pt>
                <c:pt idx="130">
                  <c:v>130</c:v>
                </c:pt>
                <c:pt idx="131">
                  <c:v>131</c:v>
                </c:pt>
                <c:pt idx="132">
                  <c:v>132</c:v>
                </c:pt>
                <c:pt idx="133">
                  <c:v>133</c:v>
                </c:pt>
                <c:pt idx="134">
                  <c:v>134</c:v>
                </c:pt>
                <c:pt idx="135">
                  <c:v>135</c:v>
                </c:pt>
                <c:pt idx="136">
                  <c:v>136</c:v>
                </c:pt>
                <c:pt idx="137">
                  <c:v>137</c:v>
                </c:pt>
                <c:pt idx="138">
                  <c:v>138</c:v>
                </c:pt>
                <c:pt idx="139">
                  <c:v>139</c:v>
                </c:pt>
                <c:pt idx="140">
                  <c:v>140</c:v>
                </c:pt>
                <c:pt idx="141">
                  <c:v>141</c:v>
                </c:pt>
                <c:pt idx="142">
                  <c:v>142</c:v>
                </c:pt>
                <c:pt idx="143">
                  <c:v>143</c:v>
                </c:pt>
                <c:pt idx="144">
                  <c:v>144</c:v>
                </c:pt>
                <c:pt idx="145">
                  <c:v>145</c:v>
                </c:pt>
                <c:pt idx="146">
                  <c:v>146</c:v>
                </c:pt>
                <c:pt idx="147">
                  <c:v>147</c:v>
                </c:pt>
                <c:pt idx="148">
                  <c:v>148</c:v>
                </c:pt>
                <c:pt idx="149">
                  <c:v>149</c:v>
                </c:pt>
              </c:strCache>
            </c:strRef>
          </c:cat>
          <c:val>
            <c:numRef>
              <c:f>Sheet1!$B$2:$B$151</c:f>
              <c:numCache>
                <c:formatCode>General</c:formatCode>
                <c:ptCount val="150"/>
                <c:pt idx="0">
                  <c:v>0.1025</c:v>
                </c:pt>
                <c:pt idx="1">
                  <c:v>0.0956</c:v>
                </c:pt>
                <c:pt idx="2">
                  <c:v>0.0908</c:v>
                </c:pt>
                <c:pt idx="3">
                  <c:v>-0.0472</c:v>
                </c:pt>
                <c:pt idx="4">
                  <c:v>-0.051</c:v>
                </c:pt>
                <c:pt idx="5">
                  <c:v>-0.054</c:v>
                </c:pt>
                <c:pt idx="6">
                  <c:v>0.0549</c:v>
                </c:pt>
                <c:pt idx="7">
                  <c:v>0.0533</c:v>
                </c:pt>
                <c:pt idx="8">
                  <c:v>0.0506</c:v>
                </c:pt>
                <c:pt idx="9">
                  <c:v>0.1313</c:v>
                </c:pt>
                <c:pt idx="10">
                  <c:v>0.1296</c:v>
                </c:pt>
                <c:pt idx="11">
                  <c:v>0.1274</c:v>
                </c:pt>
                <c:pt idx="12">
                  <c:v>0.0435</c:v>
                </c:pt>
                <c:pt idx="13">
                  <c:v>0.0422</c:v>
                </c:pt>
                <c:pt idx="14">
                  <c:v>0.0397</c:v>
                </c:pt>
                <c:pt idx="15">
                  <c:v>0.1102</c:v>
                </c:pt>
                <c:pt idx="16">
                  <c:v>0.1089</c:v>
                </c:pt>
                <c:pt idx="17">
                  <c:v>0.1076</c:v>
                </c:pt>
                <c:pt idx="18">
                  <c:v>0.093</c:v>
                </c:pt>
                <c:pt idx="19">
                  <c:v>0.0915</c:v>
                </c:pt>
                <c:pt idx="20">
                  <c:v>0.0892</c:v>
                </c:pt>
                <c:pt idx="21">
                  <c:v>0.1418</c:v>
                </c:pt>
                <c:pt idx="22">
                  <c:v>0.1405</c:v>
                </c:pt>
                <c:pt idx="23">
                  <c:v>0.1388</c:v>
                </c:pt>
                <c:pt idx="24">
                  <c:v>0.0218</c:v>
                </c:pt>
                <c:pt idx="25">
                  <c:v>0.0204</c:v>
                </c:pt>
                <c:pt idx="26">
                  <c:v>0.0189</c:v>
                </c:pt>
                <c:pt idx="27">
                  <c:v>0.0404</c:v>
                </c:pt>
                <c:pt idx="28">
                  <c:v>0.0395</c:v>
                </c:pt>
                <c:pt idx="29">
                  <c:v>0.0379</c:v>
                </c:pt>
                <c:pt idx="30">
                  <c:v>0.0034</c:v>
                </c:pt>
                <c:pt idx="31">
                  <c:v>0.0024</c:v>
                </c:pt>
                <c:pt idx="32">
                  <c:v>0.0003</c:v>
                </c:pt>
                <c:pt idx="33">
                  <c:v>0.0041</c:v>
                </c:pt>
                <c:pt idx="34">
                  <c:v>0.0028</c:v>
                </c:pt>
                <c:pt idx="35">
                  <c:v>0.0022</c:v>
                </c:pt>
                <c:pt idx="36">
                  <c:v>0.0046</c:v>
                </c:pt>
                <c:pt idx="37">
                  <c:v>0.0036</c:v>
                </c:pt>
                <c:pt idx="38">
                  <c:v>0.0022</c:v>
                </c:pt>
                <c:pt idx="39">
                  <c:v>-0.0187</c:v>
                </c:pt>
                <c:pt idx="40">
                  <c:v>-0.0193</c:v>
                </c:pt>
                <c:pt idx="41">
                  <c:v>-0.0205</c:v>
                </c:pt>
                <c:pt idx="42">
                  <c:v>0.0081</c:v>
                </c:pt>
                <c:pt idx="43">
                  <c:v>0.0068</c:v>
                </c:pt>
                <c:pt idx="44">
                  <c:v>0.0047</c:v>
                </c:pt>
                <c:pt idx="45">
                  <c:v>0.0561</c:v>
                </c:pt>
                <c:pt idx="46">
                  <c:v>0.0551</c:v>
                </c:pt>
                <c:pt idx="47">
                  <c:v>0.0536</c:v>
                </c:pt>
                <c:pt idx="48">
                  <c:v>0.1157</c:v>
                </c:pt>
                <c:pt idx="49">
                  <c:v>0.1146</c:v>
                </c:pt>
                <c:pt idx="50">
                  <c:v>0.1128</c:v>
                </c:pt>
                <c:pt idx="51">
                  <c:v>0.0213</c:v>
                </c:pt>
                <c:pt idx="52">
                  <c:v>0.0209</c:v>
                </c:pt>
                <c:pt idx="53">
                  <c:v>0.019</c:v>
                </c:pt>
                <c:pt idx="54">
                  <c:v>0.0025</c:v>
                </c:pt>
                <c:pt idx="55">
                  <c:v>0.0012</c:v>
                </c:pt>
                <c:pt idx="56">
                  <c:v>-0.0008</c:v>
                </c:pt>
                <c:pt idx="57">
                  <c:v>-0.0292</c:v>
                </c:pt>
                <c:pt idx="58">
                  <c:v>-0.0305</c:v>
                </c:pt>
                <c:pt idx="59">
                  <c:v>-0.0319</c:v>
                </c:pt>
                <c:pt idx="60">
                  <c:v>0.034</c:v>
                </c:pt>
                <c:pt idx="61">
                  <c:v>0.033</c:v>
                </c:pt>
                <c:pt idx="62">
                  <c:v>0.0313</c:v>
                </c:pt>
                <c:pt idx="63">
                  <c:v>0.0044</c:v>
                </c:pt>
                <c:pt idx="64">
                  <c:v>0.0042</c:v>
                </c:pt>
                <c:pt idx="65">
                  <c:v>0.0032</c:v>
                </c:pt>
                <c:pt idx="66">
                  <c:v>0.1207</c:v>
                </c:pt>
                <c:pt idx="67">
                  <c:v>0.1194</c:v>
                </c:pt>
                <c:pt idx="68">
                  <c:v>0.1164</c:v>
                </c:pt>
                <c:pt idx="69">
                  <c:v>0.0091</c:v>
                </c:pt>
                <c:pt idx="70">
                  <c:v>0.0078</c:v>
                </c:pt>
                <c:pt idx="71">
                  <c:v>0.0065</c:v>
                </c:pt>
                <c:pt idx="72">
                  <c:v>-0.0028</c:v>
                </c:pt>
                <c:pt idx="73">
                  <c:v>-0.0031</c:v>
                </c:pt>
                <c:pt idx="74">
                  <c:v>-0.0044</c:v>
                </c:pt>
                <c:pt idx="75">
                  <c:v>0.022</c:v>
                </c:pt>
                <c:pt idx="76">
                  <c:v>0.0212</c:v>
                </c:pt>
                <c:pt idx="77">
                  <c:v>0.0202</c:v>
                </c:pt>
                <c:pt idx="78">
                  <c:v>0.0537</c:v>
                </c:pt>
                <c:pt idx="79">
                  <c:v>0.0524</c:v>
                </c:pt>
                <c:pt idx="80">
                  <c:v>0.0508</c:v>
                </c:pt>
                <c:pt idx="81">
                  <c:v>0.0495</c:v>
                </c:pt>
                <c:pt idx="82">
                  <c:v>0.0493</c:v>
                </c:pt>
                <c:pt idx="83">
                  <c:v>0.0465</c:v>
                </c:pt>
                <c:pt idx="84">
                  <c:v>0.0975</c:v>
                </c:pt>
                <c:pt idx="85">
                  <c:v>0.0968</c:v>
                </c:pt>
                <c:pt idx="86">
                  <c:v>0.0948</c:v>
                </c:pt>
                <c:pt idx="87">
                  <c:v>0.072</c:v>
                </c:pt>
                <c:pt idx="88">
                  <c:v>0.0697</c:v>
                </c:pt>
                <c:pt idx="89">
                  <c:v>0.067</c:v>
                </c:pt>
                <c:pt idx="90">
                  <c:v>-0.0018</c:v>
                </c:pt>
                <c:pt idx="91">
                  <c:v>-0.0026</c:v>
                </c:pt>
                <c:pt idx="92">
                  <c:v>-0.0032</c:v>
                </c:pt>
                <c:pt idx="93">
                  <c:v>0.0364</c:v>
                </c:pt>
                <c:pt idx="94">
                  <c:v>0.0354</c:v>
                </c:pt>
                <c:pt idx="95">
                  <c:v>0.0343</c:v>
                </c:pt>
                <c:pt idx="96">
                  <c:v>0.0265</c:v>
                </c:pt>
                <c:pt idx="97">
                  <c:v>0.0256</c:v>
                </c:pt>
                <c:pt idx="98">
                  <c:v>0.0249</c:v>
                </c:pt>
                <c:pt idx="99">
                  <c:v>0.0001</c:v>
                </c:pt>
                <c:pt idx="100">
                  <c:v>-0.0017</c:v>
                </c:pt>
                <c:pt idx="101">
                  <c:v>-0.0032</c:v>
                </c:pt>
                <c:pt idx="102">
                  <c:v>-0.0343</c:v>
                </c:pt>
                <c:pt idx="103">
                  <c:v>-0.0354</c:v>
                </c:pt>
                <c:pt idx="104">
                  <c:v>-0.0366</c:v>
                </c:pt>
                <c:pt idx="105">
                  <c:v>-0.0045</c:v>
                </c:pt>
                <c:pt idx="106">
                  <c:v>-0.0052</c:v>
                </c:pt>
                <c:pt idx="107">
                  <c:v>-0.0064</c:v>
                </c:pt>
                <c:pt idx="108">
                  <c:v>0.0083</c:v>
                </c:pt>
                <c:pt idx="109">
                  <c:v>0.0076</c:v>
                </c:pt>
                <c:pt idx="110">
                  <c:v>0.0061</c:v>
                </c:pt>
                <c:pt idx="111">
                  <c:v>0.044</c:v>
                </c:pt>
                <c:pt idx="112">
                  <c:v>0.0432</c:v>
                </c:pt>
                <c:pt idx="113">
                  <c:v>0.0423</c:v>
                </c:pt>
                <c:pt idx="114">
                  <c:v>0.0255</c:v>
                </c:pt>
                <c:pt idx="115">
                  <c:v>0.0241</c:v>
                </c:pt>
                <c:pt idx="116">
                  <c:v>0.0234</c:v>
                </c:pt>
                <c:pt idx="117">
                  <c:v>-0.0029</c:v>
                </c:pt>
                <c:pt idx="118">
                  <c:v>-0.0043</c:v>
                </c:pt>
                <c:pt idx="119">
                  <c:v>-0.0056</c:v>
                </c:pt>
                <c:pt idx="120">
                  <c:v>0.0863</c:v>
                </c:pt>
                <c:pt idx="121">
                  <c:v>0.0855</c:v>
                </c:pt>
                <c:pt idx="122">
                  <c:v>0.0842</c:v>
                </c:pt>
                <c:pt idx="123">
                  <c:v>-0.0059</c:v>
                </c:pt>
                <c:pt idx="124">
                  <c:v>-0.0066</c:v>
                </c:pt>
                <c:pt idx="125">
                  <c:v>-0.0079</c:v>
                </c:pt>
                <c:pt idx="126">
                  <c:v>0.1075</c:v>
                </c:pt>
                <c:pt idx="127">
                  <c:v>0.1062</c:v>
                </c:pt>
                <c:pt idx="128">
                  <c:v>0.1046</c:v>
                </c:pt>
                <c:pt idx="129">
                  <c:v>-0.0056</c:v>
                </c:pt>
                <c:pt idx="130">
                  <c:v>-0.0061</c:v>
                </c:pt>
                <c:pt idx="131">
                  <c:v>-0.007</c:v>
                </c:pt>
                <c:pt idx="132">
                  <c:v>0.0334</c:v>
                </c:pt>
                <c:pt idx="133">
                  <c:v>0.0323</c:v>
                </c:pt>
                <c:pt idx="134">
                  <c:v>0.0303</c:v>
                </c:pt>
                <c:pt idx="135">
                  <c:v>-0.0178</c:v>
                </c:pt>
                <c:pt idx="136">
                  <c:v>-0.0191</c:v>
                </c:pt>
                <c:pt idx="137">
                  <c:v>-0.0206</c:v>
                </c:pt>
                <c:pt idx="138">
                  <c:v>0.0332</c:v>
                </c:pt>
                <c:pt idx="139">
                  <c:v>0.0322</c:v>
                </c:pt>
                <c:pt idx="140">
                  <c:v>0.0316</c:v>
                </c:pt>
                <c:pt idx="141">
                  <c:v>0.0354</c:v>
                </c:pt>
                <c:pt idx="142">
                  <c:v>0.0344</c:v>
                </c:pt>
                <c:pt idx="143">
                  <c:v>0.0326</c:v>
                </c:pt>
                <c:pt idx="144">
                  <c:v>0.0187</c:v>
                </c:pt>
                <c:pt idx="145">
                  <c:v>0.0176</c:v>
                </c:pt>
                <c:pt idx="146">
                  <c:v>0.017</c:v>
                </c:pt>
                <c:pt idx="147">
                  <c:v>0.0074</c:v>
                </c:pt>
                <c:pt idx="148">
                  <c:v>0.0067</c:v>
                </c:pt>
                <c:pt idx="149">
                  <c:v>0.0055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sz="1100" b="1">
                    <a:solidFill>
                      <a:srgbClr val="4C5566"/>
                    </a:solidFill>
                    <a:latin typeface="Arial"/>
                  </a:rPr>
                  <a:t>update step</a:t>
                </a:r>
              </a:p>
            </c:rich>
          </c:tx>
          <c:layout/>
          <c:overlay val="0"/>
        </c:title>
        <c:majorTickMark val="none"/>
        <c:minorTickMark val="none"/>
        <c:tickLblPos val="nextTo"/>
        <c:spPr>
          <a:ln>
            <a:solidFill>
              <a:srgbClr val="E2E5EA"/>
            </a:solidFill>
          </a:ln>
        </c:spPr>
        <c:txPr>
          <a:bodyPr/>
          <a:lstStyle/>
          <a:p>
            <a:pPr>
              <a:defRPr sz="800">
                <a:solidFill>
                  <a:srgbClr val="8B94A6"/>
                </a:solidFill>
                <a:latin typeface="Arial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9525">
              <a:solidFill>
                <a:srgbClr val="ECEEF2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100" b="1">
                    <a:solidFill>
                      <a:srgbClr val="4C5566"/>
                    </a:solidFill>
                    <a:latin typeface="Arial"/>
                  </a:rPr>
                  <a:t>clip-loss (≈0, normalised)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spPr>
          <a:ln>
            <a:solidFill>
              <a:srgbClr val="E2E5EA"/>
            </a:solidFill>
          </a:ln>
        </c:spPr>
        <c:txPr>
          <a:bodyPr/>
          <a:lstStyle/>
          <a:p>
            <a:pPr>
              <a:defRPr sz="1000">
                <a:solidFill>
                  <a:srgbClr val="8B94A6"/>
                </a:solidFill>
                <a:latin typeface="Arial"/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full_bench_layout</c:v>
                </c:pt>
              </c:strCache>
            </c:strRef>
          </c:tx>
          <c:spPr>
            <a:ln w="28575">
              <a:solidFill>
                <a:srgbClr val="2A78D6"/>
              </a:solidFill>
            </a:ln>
          </c:spPr>
          <c:marker>
            <c:symbol val="none"/>
          </c:marker>
          <c:cat>
            <c:strRef>
              <c:f>Sheet1!$A$2:$A$73</c:f>
              <c:strCache>
                <c:ptCount val="72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  <c:pt idx="61">
                  <c:v>61</c:v>
                </c:pt>
                <c:pt idx="62">
                  <c:v>62</c:v>
                </c:pt>
                <c:pt idx="63">
                  <c:v>63</c:v>
                </c:pt>
                <c:pt idx="64">
                  <c:v>64</c:v>
                </c:pt>
                <c:pt idx="65">
                  <c:v>65</c:v>
                </c:pt>
                <c:pt idx="66">
                  <c:v>66</c:v>
                </c:pt>
                <c:pt idx="67">
                  <c:v>67</c:v>
                </c:pt>
                <c:pt idx="68">
                  <c:v>68</c:v>
                </c:pt>
                <c:pt idx="69">
                  <c:v>69</c:v>
                </c:pt>
                <c:pt idx="70">
                  <c:v>70</c:v>
                </c:pt>
                <c:pt idx="71">
                  <c:v>71</c:v>
                </c:pt>
              </c:strCache>
            </c:strRef>
          </c:cat>
          <c:val>
            <c:numRef>
              <c:f>Sheet1!$B$2:$B$73</c:f>
              <c:numCache>
                <c:formatCode>General</c:formatCode>
                <c:ptCount val="72"/>
                <c:pt idx="0">
                  <c:v>0.444</c:v>
                </c:pt>
                <c:pt idx="1">
                  <c:v>0.444</c:v>
                </c:pt>
                <c:pt idx="2">
                  <c:v>0.458</c:v>
                </c:pt>
                <c:pt idx="3">
                  <c:v>0.458</c:v>
                </c:pt>
                <c:pt idx="4">
                  <c:v>0.46</c:v>
                </c:pt>
                <c:pt idx="5">
                  <c:v>0.46</c:v>
                </c:pt>
                <c:pt idx="6">
                  <c:v>0.482</c:v>
                </c:pt>
                <c:pt idx="7">
                  <c:v>0.482</c:v>
                </c:pt>
                <c:pt idx="8">
                  <c:v>0.506</c:v>
                </c:pt>
                <c:pt idx="9">
                  <c:v>0.506</c:v>
                </c:pt>
                <c:pt idx="10">
                  <c:v>0.555</c:v>
                </c:pt>
                <c:pt idx="11">
                  <c:v>0.555</c:v>
                </c:pt>
                <c:pt idx="12">
                  <c:v>0.469</c:v>
                </c:pt>
                <c:pt idx="13">
                  <c:v>0.469</c:v>
                </c:pt>
                <c:pt idx="14">
                  <c:v>0.481</c:v>
                </c:pt>
                <c:pt idx="15">
                  <c:v>0.481</c:v>
                </c:pt>
                <c:pt idx="16">
                  <c:v>0.586</c:v>
                </c:pt>
                <c:pt idx="17">
                  <c:v>0.586</c:v>
                </c:pt>
                <c:pt idx="18">
                  <c:v>0.481</c:v>
                </c:pt>
                <c:pt idx="19">
                  <c:v>0.481</c:v>
                </c:pt>
                <c:pt idx="20">
                  <c:v>0.55</c:v>
                </c:pt>
                <c:pt idx="21">
                  <c:v>0.55</c:v>
                </c:pt>
                <c:pt idx="22">
                  <c:v>0.525</c:v>
                </c:pt>
                <c:pt idx="23">
                  <c:v>0.525</c:v>
                </c:pt>
                <c:pt idx="24">
                  <c:v>0.535</c:v>
                </c:pt>
                <c:pt idx="25">
                  <c:v>0.535</c:v>
                </c:pt>
                <c:pt idx="26">
                  <c:v>0.529</c:v>
                </c:pt>
                <c:pt idx="27">
                  <c:v>0.529</c:v>
                </c:pt>
                <c:pt idx="28">
                  <c:v>0.523</c:v>
                </c:pt>
                <c:pt idx="29">
                  <c:v>0.523</c:v>
                </c:pt>
                <c:pt idx="30">
                  <c:v>0.599</c:v>
                </c:pt>
                <c:pt idx="31">
                  <c:v>0.599</c:v>
                </c:pt>
                <c:pt idx="32">
                  <c:v>0.495</c:v>
                </c:pt>
                <c:pt idx="33">
                  <c:v>0.495</c:v>
                </c:pt>
                <c:pt idx="34">
                  <c:v>0.505</c:v>
                </c:pt>
                <c:pt idx="35">
                  <c:v>0.505</c:v>
                </c:pt>
                <c:pt idx="36">
                  <c:v>0.479</c:v>
                </c:pt>
                <c:pt idx="37">
                  <c:v>0.479</c:v>
                </c:pt>
                <c:pt idx="38">
                  <c:v>0.531</c:v>
                </c:pt>
                <c:pt idx="39">
                  <c:v>0.531</c:v>
                </c:pt>
                <c:pt idx="40">
                  <c:v>0.486</c:v>
                </c:pt>
                <c:pt idx="41">
                  <c:v>0.486</c:v>
                </c:pt>
                <c:pt idx="42">
                  <c:v>0.526</c:v>
                </c:pt>
                <c:pt idx="43">
                  <c:v>0.526</c:v>
                </c:pt>
                <c:pt idx="44">
                  <c:v>0.529</c:v>
                </c:pt>
                <c:pt idx="45">
                  <c:v>0.529</c:v>
                </c:pt>
                <c:pt idx="46">
                  <c:v>0.509</c:v>
                </c:pt>
                <c:pt idx="47">
                  <c:v>0.509</c:v>
                </c:pt>
                <c:pt idx="48">
                  <c:v>0.512</c:v>
                </c:pt>
                <c:pt idx="49">
                  <c:v>0.512</c:v>
                </c:pt>
                <c:pt idx="50">
                  <c:v>0.546</c:v>
                </c:pt>
                <c:pt idx="51">
                  <c:v>0.546</c:v>
                </c:pt>
                <c:pt idx="52">
                  <c:v>0.572</c:v>
                </c:pt>
                <c:pt idx="53">
                  <c:v>0.572</c:v>
                </c:pt>
                <c:pt idx="54">
                  <c:v>0.545</c:v>
                </c:pt>
                <c:pt idx="55">
                  <c:v>0.545</c:v>
                </c:pt>
                <c:pt idx="56">
                  <c:v>0.573</c:v>
                </c:pt>
                <c:pt idx="57">
                  <c:v>0.573</c:v>
                </c:pt>
                <c:pt idx="58">
                  <c:v>0.535</c:v>
                </c:pt>
                <c:pt idx="59">
                  <c:v>0.535</c:v>
                </c:pt>
                <c:pt idx="60">
                  <c:v>0.546</c:v>
                </c:pt>
                <c:pt idx="61">
                  <c:v>0.546</c:v>
                </c:pt>
                <c:pt idx="62">
                  <c:v>0.533</c:v>
                </c:pt>
                <c:pt idx="63">
                  <c:v>0.533</c:v>
                </c:pt>
                <c:pt idx="64">
                  <c:v>0.463</c:v>
                </c:pt>
                <c:pt idx="65">
                  <c:v>0.463</c:v>
                </c:pt>
                <c:pt idx="66">
                  <c:v>0.479</c:v>
                </c:pt>
                <c:pt idx="67">
                  <c:v>0.479</c:v>
                </c:pt>
                <c:pt idx="68">
                  <c:v>0.529</c:v>
                </c:pt>
                <c:pt idx="69">
                  <c:v>0.529</c:v>
                </c:pt>
                <c:pt idx="70">
                  <c:v>0.554</c:v>
                </c:pt>
                <c:pt idx="71">
                  <c:v>0.554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real_focused</c:v>
                </c:pt>
              </c:strCache>
            </c:strRef>
          </c:tx>
          <c:spPr>
            <a:ln w="28575">
              <a:solidFill>
                <a:srgbClr val="EB6834"/>
              </a:solidFill>
            </a:ln>
          </c:spPr>
          <c:marker>
            <c:symbol val="none"/>
          </c:marker>
          <c:cat>
            <c:strRef>
              <c:f>Sheet1!$A$2:$A$73</c:f>
              <c:strCache>
                <c:ptCount val="72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  <c:pt idx="61">
                  <c:v>61</c:v>
                </c:pt>
                <c:pt idx="62">
                  <c:v>62</c:v>
                </c:pt>
                <c:pt idx="63">
                  <c:v>63</c:v>
                </c:pt>
                <c:pt idx="64">
                  <c:v>64</c:v>
                </c:pt>
                <c:pt idx="65">
                  <c:v>65</c:v>
                </c:pt>
                <c:pt idx="66">
                  <c:v>66</c:v>
                </c:pt>
                <c:pt idx="67">
                  <c:v>67</c:v>
                </c:pt>
                <c:pt idx="68">
                  <c:v>68</c:v>
                </c:pt>
                <c:pt idx="69">
                  <c:v>69</c:v>
                </c:pt>
                <c:pt idx="70">
                  <c:v>70</c:v>
                </c:pt>
                <c:pt idx="71">
                  <c:v>71</c:v>
                </c:pt>
              </c:strCache>
            </c:strRef>
          </c:cat>
          <c:val>
            <c:numRef>
              <c:f>Sheet1!$C$2:$C$73</c:f>
              <c:numCache>
                <c:formatCode>General</c:formatCode>
                <c:ptCount val="72"/>
                <c:pt idx="0">
                  <c:v>0.336</c:v>
                </c:pt>
                <c:pt idx="1">
                  <c:v>0.418</c:v>
                </c:pt>
                <c:pt idx="2">
                  <c:v>0.449</c:v>
                </c:pt>
                <c:pt idx="3">
                  <c:v>0.448</c:v>
                </c:pt>
                <c:pt idx="4">
                  <c:v>0.413</c:v>
                </c:pt>
                <c:pt idx="5">
                  <c:v>0.472</c:v>
                </c:pt>
                <c:pt idx="6">
                  <c:v>0.406</c:v>
                </c:pt>
                <c:pt idx="7">
                  <c:v>0.393</c:v>
                </c:pt>
                <c:pt idx="8">
                  <c:v>0.398</c:v>
                </c:pt>
                <c:pt idx="9">
                  <c:v>0.42</c:v>
                </c:pt>
                <c:pt idx="10">
                  <c:v>0.414</c:v>
                </c:pt>
                <c:pt idx="11">
                  <c:v>0.506</c:v>
                </c:pt>
                <c:pt idx="12">
                  <c:v>0.451</c:v>
                </c:pt>
                <c:pt idx="13">
                  <c:v>0.445</c:v>
                </c:pt>
                <c:pt idx="14">
                  <c:v>0.458</c:v>
                </c:pt>
                <c:pt idx="15">
                  <c:v>0.455</c:v>
                </c:pt>
                <c:pt idx="16">
                  <c:v>0.344</c:v>
                </c:pt>
                <c:pt idx="17">
                  <c:v>0.39</c:v>
                </c:pt>
                <c:pt idx="18">
                  <c:v>0.338</c:v>
                </c:pt>
                <c:pt idx="19">
                  <c:v>0.435</c:v>
                </c:pt>
                <c:pt idx="20">
                  <c:v>0.406</c:v>
                </c:pt>
                <c:pt idx="21">
                  <c:v>0.457</c:v>
                </c:pt>
                <c:pt idx="22">
                  <c:v>0.507</c:v>
                </c:pt>
                <c:pt idx="23">
                  <c:v>0.438</c:v>
                </c:pt>
                <c:pt idx="24">
                  <c:v>0.43</c:v>
                </c:pt>
                <c:pt idx="25">
                  <c:v>0.441</c:v>
                </c:pt>
                <c:pt idx="26">
                  <c:v>0.399</c:v>
                </c:pt>
                <c:pt idx="27">
                  <c:v>0.43</c:v>
                </c:pt>
                <c:pt idx="28">
                  <c:v>0.35</c:v>
                </c:pt>
                <c:pt idx="29">
                  <c:v>0.496</c:v>
                </c:pt>
                <c:pt idx="30">
                  <c:v>0.504</c:v>
                </c:pt>
                <c:pt idx="31">
                  <c:v>0.49</c:v>
                </c:pt>
                <c:pt idx="32">
                  <c:v>0.48</c:v>
                </c:pt>
                <c:pt idx="33">
                  <c:v>0.481</c:v>
                </c:pt>
                <c:pt idx="34">
                  <c:v>0.495</c:v>
                </c:pt>
                <c:pt idx="35">
                  <c:v>0.578</c:v>
                </c:pt>
                <c:pt idx="36">
                  <c:v>0.56</c:v>
                </c:pt>
                <c:pt idx="37">
                  <c:v>0.447</c:v>
                </c:pt>
                <c:pt idx="38">
                  <c:v>0.503</c:v>
                </c:pt>
                <c:pt idx="39">
                  <c:v>0.509</c:v>
                </c:pt>
                <c:pt idx="40">
                  <c:v>0.461</c:v>
                </c:pt>
                <c:pt idx="41">
                  <c:v>0.574</c:v>
                </c:pt>
                <c:pt idx="42">
                  <c:v>0.543</c:v>
                </c:pt>
                <c:pt idx="43">
                  <c:v>0.481</c:v>
                </c:pt>
                <c:pt idx="44">
                  <c:v>0.527</c:v>
                </c:pt>
                <c:pt idx="45">
                  <c:v>0.536</c:v>
                </c:pt>
                <c:pt idx="46">
                  <c:v>0.507</c:v>
                </c:pt>
                <c:pt idx="47">
                  <c:v>0.514</c:v>
                </c:pt>
                <c:pt idx="48">
                  <c:v>0.519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dapo_30h</c:v>
                </c:pt>
              </c:strCache>
            </c:strRef>
          </c:tx>
          <c:spPr>
            <a:ln w="28575">
              <a:solidFill>
                <a:srgbClr val="1BAF7A"/>
              </a:solidFill>
            </a:ln>
          </c:spPr>
          <c:marker>
            <c:symbol val="none"/>
          </c:marker>
          <c:cat>
            <c:strRef>
              <c:f>Sheet1!$A$2:$A$73</c:f>
              <c:strCache>
                <c:ptCount val="72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  <c:pt idx="61">
                  <c:v>61</c:v>
                </c:pt>
                <c:pt idx="62">
                  <c:v>62</c:v>
                </c:pt>
                <c:pt idx="63">
                  <c:v>63</c:v>
                </c:pt>
                <c:pt idx="64">
                  <c:v>64</c:v>
                </c:pt>
                <c:pt idx="65">
                  <c:v>65</c:v>
                </c:pt>
                <c:pt idx="66">
                  <c:v>66</c:v>
                </c:pt>
                <c:pt idx="67">
                  <c:v>67</c:v>
                </c:pt>
                <c:pt idx="68">
                  <c:v>68</c:v>
                </c:pt>
                <c:pt idx="69">
                  <c:v>69</c:v>
                </c:pt>
                <c:pt idx="70">
                  <c:v>70</c:v>
                </c:pt>
                <c:pt idx="71">
                  <c:v>71</c:v>
                </c:pt>
              </c:strCache>
            </c:strRef>
          </c:cat>
          <c:val>
            <c:numRef>
              <c:f>Sheet1!$D$2:$D$73</c:f>
              <c:numCache>
                <c:formatCode>General</c:formatCode>
                <c:ptCount val="72"/>
                <c:pt idx="0">
                  <c:v>0.486</c:v>
                </c:pt>
                <c:pt idx="1">
                  <c:v>0.45</c:v>
                </c:pt>
                <c:pt idx="2">
                  <c:v>0.432</c:v>
                </c:pt>
                <c:pt idx="3">
                  <c:v>0.503</c:v>
                </c:pt>
                <c:pt idx="4">
                  <c:v>0.516</c:v>
                </c:pt>
                <c:pt idx="5">
                  <c:v>0.423</c:v>
                </c:pt>
                <c:pt idx="6">
                  <c:v>0.465</c:v>
                </c:pt>
                <c:pt idx="7">
                  <c:v>0.532</c:v>
                </c:pt>
                <c:pt idx="8">
                  <c:v>0.518</c:v>
                </c:pt>
                <c:pt idx="9">
                  <c:v>0.619</c:v>
                </c:pt>
                <c:pt idx="10">
                  <c:v>0.572</c:v>
                </c:pt>
                <c:pt idx="11">
                  <c:v>0.517</c:v>
                </c:pt>
                <c:pt idx="12">
                  <c:v>0.572</c:v>
                </c:pt>
                <c:pt idx="13">
                  <c:v>0.558</c:v>
                </c:pt>
                <c:pt idx="14">
                  <c:v>0.527</c:v>
                </c:pt>
                <c:pt idx="15">
                  <c:v>0.617</c:v>
                </c:pt>
                <c:pt idx="16">
                  <c:v>0.577</c:v>
                </c:pt>
                <c:pt idx="17">
                  <c:v>0.58</c:v>
                </c:pt>
                <c:pt idx="18">
                  <c:v>0.522</c:v>
                </c:pt>
                <c:pt idx="19">
                  <c:v>0.602</c:v>
                </c:pt>
                <c:pt idx="20">
                  <c:v>0.553</c:v>
                </c:pt>
                <c:pt idx="21">
                  <c:v>0.529</c:v>
                </c:pt>
                <c:pt idx="22">
                  <c:v>0.555</c:v>
                </c:pt>
                <c:pt idx="23">
                  <c:v>0.576</c:v>
                </c:pt>
                <c:pt idx="24">
                  <c:v>0.606</c:v>
                </c:pt>
                <c:pt idx="25">
                  <c:v>0.552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overfit</c:v>
                </c:pt>
              </c:strCache>
            </c:strRef>
          </c:tx>
          <c:spPr>
            <a:ln w="28575">
              <a:solidFill>
                <a:srgbClr val="EDA100"/>
              </a:solidFill>
            </a:ln>
          </c:spPr>
          <c:marker>
            <c:symbol val="none"/>
          </c:marker>
          <c:cat>
            <c:strRef>
              <c:f>Sheet1!$A$2:$A$73</c:f>
              <c:strCache>
                <c:ptCount val="72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  <c:pt idx="61">
                  <c:v>61</c:v>
                </c:pt>
                <c:pt idx="62">
                  <c:v>62</c:v>
                </c:pt>
                <c:pt idx="63">
                  <c:v>63</c:v>
                </c:pt>
                <c:pt idx="64">
                  <c:v>64</c:v>
                </c:pt>
                <c:pt idx="65">
                  <c:v>65</c:v>
                </c:pt>
                <c:pt idx="66">
                  <c:v>66</c:v>
                </c:pt>
                <c:pt idx="67">
                  <c:v>67</c:v>
                </c:pt>
                <c:pt idx="68">
                  <c:v>68</c:v>
                </c:pt>
                <c:pt idx="69">
                  <c:v>69</c:v>
                </c:pt>
                <c:pt idx="70">
                  <c:v>70</c:v>
                </c:pt>
                <c:pt idx="71">
                  <c:v>71</c:v>
                </c:pt>
              </c:strCache>
            </c:strRef>
          </c:cat>
          <c:val>
            <c:numRef>
              <c:f>Sheet1!$E$2:$E$73</c:f>
              <c:numCache>
                <c:formatCode>General</c:formatCode>
                <c:ptCount val="72"/>
                <c:pt idx="0">
                  <c:v>0.355</c:v>
                </c:pt>
                <c:pt idx="1">
                  <c:v>0.355</c:v>
                </c:pt>
                <c:pt idx="2">
                  <c:v>0.355</c:v>
                </c:pt>
                <c:pt idx="3">
                  <c:v>0.355</c:v>
                </c:pt>
                <c:pt idx="4">
                  <c:v>0.355</c:v>
                </c:pt>
                <c:pt idx="5">
                  <c:v>0.355</c:v>
                </c:pt>
                <c:pt idx="6">
                  <c:v>0.713</c:v>
                </c:pt>
                <c:pt idx="7">
                  <c:v>0.713</c:v>
                </c:pt>
                <c:pt idx="8">
                  <c:v>0.713</c:v>
                </c:pt>
                <c:pt idx="9">
                  <c:v>0.713</c:v>
                </c:pt>
                <c:pt idx="10">
                  <c:v>0.713</c:v>
                </c:pt>
                <c:pt idx="11">
                  <c:v>0.713</c:v>
                </c:pt>
                <c:pt idx="12">
                  <c:v>0.405</c:v>
                </c:pt>
                <c:pt idx="13">
                  <c:v>0.405</c:v>
                </c:pt>
                <c:pt idx="14">
                  <c:v>0.405</c:v>
                </c:pt>
                <c:pt idx="15">
                  <c:v>0.405</c:v>
                </c:pt>
                <c:pt idx="16">
                  <c:v>0.405</c:v>
                </c:pt>
                <c:pt idx="17">
                  <c:v>0.405</c:v>
                </c:pt>
                <c:pt idx="18">
                  <c:v>0.251</c:v>
                </c:pt>
                <c:pt idx="19">
                  <c:v>0.251</c:v>
                </c:pt>
                <c:pt idx="20">
                  <c:v>0.251</c:v>
                </c:pt>
                <c:pt idx="21">
                  <c:v>0.251</c:v>
                </c:pt>
                <c:pt idx="22">
                  <c:v>0.251</c:v>
                </c:pt>
                <c:pt idx="23">
                  <c:v>0.251</c:v>
                </c:pt>
                <c:pt idx="24">
                  <c:v>0.34</c:v>
                </c:pt>
                <c:pt idx="25">
                  <c:v>0.34</c:v>
                </c:pt>
                <c:pt idx="26">
                  <c:v>0.34</c:v>
                </c:pt>
                <c:pt idx="27">
                  <c:v>0.34</c:v>
                </c:pt>
                <c:pt idx="28">
                  <c:v>0.34</c:v>
                </c:pt>
                <c:pt idx="29">
                  <c:v>0.34</c:v>
                </c:pt>
                <c:pt idx="30">
                  <c:v>0.257</c:v>
                </c:pt>
                <c:pt idx="31">
                  <c:v>0.257</c:v>
                </c:pt>
                <c:pt idx="32">
                  <c:v>0.257</c:v>
                </c:pt>
                <c:pt idx="33">
                  <c:v>0.257</c:v>
                </c:pt>
                <c:pt idx="34">
                  <c:v>0.257</c:v>
                </c:pt>
                <c:pt idx="35">
                  <c:v>0.257</c:v>
                </c:pt>
                <c:pt idx="36">
                  <c:v>0.361</c:v>
                </c:pt>
                <c:pt idx="37">
                  <c:v>0.361</c:v>
                </c:pt>
                <c:pt idx="38">
                  <c:v>0.361</c:v>
                </c:pt>
                <c:pt idx="39">
                  <c:v>0.361</c:v>
                </c:pt>
                <c:pt idx="40">
                  <c:v>0.361</c:v>
                </c:pt>
                <c:pt idx="41">
                  <c:v>0.361</c:v>
                </c:pt>
                <c:pt idx="42">
                  <c:v>0.45</c:v>
                </c:pt>
                <c:pt idx="43">
                  <c:v>0.45</c:v>
                </c:pt>
                <c:pt idx="44">
                  <c:v>0.45</c:v>
                </c:pt>
                <c:pt idx="45">
                  <c:v>0.45</c:v>
                </c:pt>
                <c:pt idx="46">
                  <c:v>0.45</c:v>
                </c:pt>
                <c:pt idx="47">
                  <c:v>0.45</c:v>
                </c:pt>
                <c:pt idx="48">
                  <c:v>0.29</c:v>
                </c:pt>
                <c:pt idx="49">
                  <c:v>0.29</c:v>
                </c:pt>
                <c:pt idx="50">
                  <c:v>0.29</c:v>
                </c:pt>
                <c:pt idx="51">
                  <c:v>0.29</c:v>
                </c:pt>
                <c:pt idx="52">
                  <c:v>0.29</c:v>
                </c:pt>
                <c:pt idx="53">
                  <c:v>0.29</c:v>
                </c:pt>
                <c:pt idx="54">
                  <c:v>0.502</c:v>
                </c:pt>
                <c:pt idx="55">
                  <c:v>0.502</c:v>
                </c:pt>
                <c:pt idx="56">
                  <c:v>0.502</c:v>
                </c:pt>
                <c:pt idx="57">
                  <c:v>0.502</c:v>
                </c:pt>
                <c:pt idx="58">
                  <c:v>0.502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sz="1100" b="1">
                    <a:solidFill>
                      <a:srgbClr val="4C5566"/>
                    </a:solidFill>
                    <a:latin typeface="Arial"/>
                  </a:rPr>
                  <a:t>logged update-step index</a:t>
                </a:r>
              </a:p>
            </c:rich>
          </c:tx>
          <c:layout/>
          <c:overlay val="0"/>
        </c:title>
        <c:majorTickMark val="none"/>
        <c:minorTickMark val="none"/>
        <c:tickLblPos val="nextTo"/>
        <c:spPr>
          <a:ln>
            <a:solidFill>
              <a:srgbClr val="E2E5EA"/>
            </a:solidFill>
          </a:ln>
        </c:spPr>
        <c:txPr>
          <a:bodyPr/>
          <a:lstStyle/>
          <a:p>
            <a:pPr>
              <a:defRPr sz="1000">
                <a:solidFill>
                  <a:srgbClr val="8B94A6"/>
                </a:solidFill>
                <a:latin typeface="Arial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0.7"/>
          <c:min val="0.3"/>
        </c:scaling>
        <c:delete val="0"/>
        <c:axPos val="l"/>
        <c:majorGridlines>
          <c:spPr>
            <a:ln w="9525">
              <a:solidFill>
                <a:srgbClr val="ECEEF2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100" b="1">
                    <a:solidFill>
                      <a:srgbClr val="4C5566"/>
                    </a:solidFill>
                    <a:latin typeface="Arial"/>
                  </a:rPr>
                  <a:t>mean reward (0–1)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spPr>
          <a:ln>
            <a:solidFill>
              <a:srgbClr val="E2E5EA"/>
            </a:solidFill>
          </a:ln>
        </c:spPr>
        <c:txPr>
          <a:bodyPr/>
          <a:lstStyle/>
          <a:p>
            <a:pPr>
              <a:defRPr sz="1000">
                <a:solidFill>
                  <a:srgbClr val="8B94A6"/>
                </a:solidFill>
                <a:latin typeface="Arial"/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100">
              <a:latin typeface="Arial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chosen (best rollout)</c:v>
                </c:pt>
              </c:strCache>
            </c:strRef>
          </c:tx>
          <c:spPr>
            <a:solidFill>
              <a:srgbClr val="1BAF7A"/>
            </a:solidFill>
          </c:spPr>
          <c:cat>
            <c:strRef>
              <c:f>Sheet1!$A$2:$A$4</c:f>
              <c:strCache>
                <c:ptCount val="3"/>
                <c:pt idx="0">
                  <c:v>p10</c:v>
                </c:pt>
                <c:pt idx="1">
                  <c:v>median</c:v>
                </c:pt>
                <c:pt idx="2">
                  <c:v>p90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0.611</c:v>
                </c:pt>
                <c:pt idx="1">
                  <c:v>0.775</c:v>
                </c:pt>
                <c:pt idx="2">
                  <c:v>0.948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rejected (worst rollout)</c:v>
                </c:pt>
              </c:strCache>
            </c:strRef>
          </c:tx>
          <c:spPr>
            <a:solidFill>
              <a:srgbClr val="EB6834"/>
            </a:solidFill>
          </c:spPr>
          <c:cat>
            <c:strRef>
              <c:f>Sheet1!$A$2:$A$4</c:f>
              <c:strCache>
                <c:ptCount val="3"/>
                <c:pt idx="0">
                  <c:v>p10</c:v>
                </c:pt>
                <c:pt idx="1">
                  <c:v>median</c:v>
                </c:pt>
                <c:pt idx="2">
                  <c:v>p90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0.0</c:v>
                </c:pt>
                <c:pt idx="1">
                  <c:v>0.344</c:v>
                </c:pt>
                <c:pt idx="2">
                  <c:v>0.462</c:v>
                </c:pt>
              </c:numCache>
            </c:numRef>
          </c:val>
        </c:ser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sz="1100" b="1">
                    <a:solidFill>
                      <a:srgbClr val="4C5566"/>
                    </a:solidFill>
                    <a:latin typeface="Arial"/>
                  </a:rPr>
                  <a:t>percentile across 519 widgets</a:t>
                </a:r>
              </a:p>
            </c:rich>
          </c:tx>
          <c:layout/>
          <c:overlay val="0"/>
        </c:title>
        <c:majorTickMark val="none"/>
        <c:minorTickMark val="none"/>
        <c:tickLblPos val="nextTo"/>
        <c:spPr>
          <a:ln>
            <a:solidFill>
              <a:srgbClr val="E2E5EA"/>
            </a:solidFill>
          </a:ln>
        </c:spPr>
        <c:txPr>
          <a:bodyPr/>
          <a:lstStyle/>
          <a:p>
            <a:pPr>
              <a:defRPr sz="1000">
                <a:solidFill>
                  <a:srgbClr val="8B94A6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0"/>
          <c:min val="0.0"/>
        </c:scaling>
        <c:delete val="0"/>
        <c:axPos val="l"/>
        <c:majorGridlines>
          <c:spPr>
            <a:ln w="9525">
              <a:solidFill>
                <a:srgbClr val="ECEEF2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100" b="1">
                    <a:solidFill>
                      <a:srgbClr val="4C5566"/>
                    </a:solidFill>
                    <a:latin typeface="Arial"/>
                  </a:rPr>
                  <a:t>reward (0–1)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spPr>
          <a:ln>
            <a:solidFill>
              <a:srgbClr val="E2E5EA"/>
            </a:solidFill>
          </a:ln>
        </c:spPr>
        <c:txPr>
          <a:bodyPr/>
          <a:lstStyle/>
          <a:p>
            <a:pPr>
              <a:defRPr sz="1000">
                <a:solidFill>
                  <a:srgbClr val="8B94A6"/>
                </a:solidFill>
                <a:latin typeface="Arial"/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100">
              <a:latin typeface="Arial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rollouts</c:v>
                </c:pt>
              </c:strCache>
            </c:strRef>
          </c:tx>
          <c:spPr>
            <a:solidFill>
              <a:srgbClr val="2A78D6"/>
            </a:solidFill>
          </c:spPr>
          <c:cat>
            <c:strRef>
              <c:f>Sheet1!$A$2:$A$11</c:f>
              <c:strCache>
                <c:ptCount val="10"/>
                <c:pt idx="0">
                  <c:v>0.0–0.1</c:v>
                </c:pt>
                <c:pt idx="1">
                  <c:v>0.1–0.2</c:v>
                </c:pt>
                <c:pt idx="2">
                  <c:v>0.2–0.3</c:v>
                </c:pt>
                <c:pt idx="3">
                  <c:v>0.3–0.4</c:v>
                </c:pt>
                <c:pt idx="4">
                  <c:v>0.4–0.5</c:v>
                </c:pt>
                <c:pt idx="5">
                  <c:v>0.5–0.6</c:v>
                </c:pt>
                <c:pt idx="6">
                  <c:v>0.6–0.7</c:v>
                </c:pt>
                <c:pt idx="7">
                  <c:v>0.7–0.8</c:v>
                </c:pt>
                <c:pt idx="8">
                  <c:v>0.8–0.9</c:v>
                </c:pt>
                <c:pt idx="9">
                  <c:v>0.9–1.0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246</c:v>
                </c:pt>
                <c:pt idx="1">
                  <c:v>12</c:v>
                </c:pt>
                <c:pt idx="2">
                  <c:v>99</c:v>
                </c:pt>
                <c:pt idx="3">
                  <c:v>697</c:v>
                </c:pt>
                <c:pt idx="4">
                  <c:v>849</c:v>
                </c:pt>
                <c:pt idx="5">
                  <c:v>742</c:v>
                </c:pt>
                <c:pt idx="6">
                  <c:v>634</c:v>
                </c:pt>
                <c:pt idx="7">
                  <c:v>509</c:v>
                </c:pt>
                <c:pt idx="8">
                  <c:v>233</c:v>
                </c:pt>
                <c:pt idx="9">
                  <c:v>139</c:v>
                </c:pt>
              </c:numCache>
            </c:numRef>
          </c:val>
        </c:ser>
        <c:gapWidth val="3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sz="1100" b="1">
                    <a:solidFill>
                      <a:srgbClr val="4C5566"/>
                    </a:solidFill>
                    <a:latin typeface="Arial"/>
                  </a:rPr>
                  <a:t>reward bin (0–1)</a:t>
                </a:r>
              </a:p>
            </c:rich>
          </c:tx>
          <c:layout/>
          <c:overlay val="0"/>
        </c:title>
        <c:majorTickMark val="none"/>
        <c:minorTickMark val="none"/>
        <c:tickLblPos val="nextTo"/>
        <c:spPr>
          <a:ln>
            <a:solidFill>
              <a:srgbClr val="E2E5EA"/>
            </a:solidFill>
          </a:ln>
        </c:spPr>
        <c:txPr>
          <a:bodyPr/>
          <a:lstStyle/>
          <a:p>
            <a:pPr>
              <a:defRPr sz="1000">
                <a:solidFill>
                  <a:srgbClr val="8B94A6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ECEEF2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100" b="1">
                    <a:solidFill>
                      <a:srgbClr val="4C5566"/>
                    </a:solidFill>
                    <a:latin typeface="Arial"/>
                  </a:rPr>
                  <a:t>rollout count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spPr>
          <a:ln>
            <a:solidFill>
              <a:srgbClr val="E2E5EA"/>
            </a:solidFill>
          </a:ln>
        </c:spPr>
        <c:txPr>
          <a:bodyPr/>
          <a:lstStyle/>
          <a:p>
            <a:pPr>
              <a:defRPr sz="1000">
                <a:solidFill>
                  <a:srgbClr val="8B94A6"/>
                </a:solidFill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style</c:v>
                </c:pt>
              </c:strCache>
            </c:strRef>
          </c:tx>
          <c:spPr>
            <a:ln w="28575">
              <a:solidFill>
                <a:srgbClr val="EB6834"/>
              </a:solidFill>
            </a:ln>
          </c:spPr>
          <c:marker>
            <c:symbol val="none"/>
          </c:marker>
          <c:cat>
            <c:strRef>
              <c:f>Sheet1!$A$2:$A$12</c:f>
              <c:strCache>
                <c:ptCount val="1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44.08</c:v>
                </c:pt>
                <c:pt idx="1">
                  <c:v>43.18</c:v>
                </c:pt>
                <c:pt idx="2">
                  <c:v>42.55</c:v>
                </c:pt>
                <c:pt idx="3">
                  <c:v>45.18</c:v>
                </c:pt>
                <c:pt idx="4">
                  <c:v>47.32</c:v>
                </c:pt>
                <c:pt idx="5">
                  <c:v>46.27</c:v>
                </c:pt>
                <c:pt idx="6">
                  <c:v>47.43</c:v>
                </c:pt>
                <c:pt idx="7">
                  <c:v>47.97</c:v>
                </c:pt>
                <c:pt idx="8">
                  <c:v>48.45</c:v>
                </c:pt>
                <c:pt idx="9">
                  <c:v>46.56</c:v>
                </c:pt>
                <c:pt idx="10">
                  <c:v>48.93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legibility</c:v>
                </c:pt>
              </c:strCache>
            </c:strRef>
          </c:tx>
          <c:spPr>
            <a:ln w="28575">
              <a:solidFill>
                <a:srgbClr val="EDA100"/>
              </a:solidFill>
            </a:ln>
          </c:spPr>
          <c:marker>
            <c:symbol val="none"/>
          </c:marker>
          <c:cat>
            <c:strRef>
              <c:f>Sheet1!$A$2:$A$12</c:f>
              <c:strCache>
                <c:ptCount val="1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</c:strCache>
            </c: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69.3</c:v>
                </c:pt>
                <c:pt idx="1">
                  <c:v>70.83</c:v>
                </c:pt>
                <c:pt idx="2">
                  <c:v>70.53</c:v>
                </c:pt>
                <c:pt idx="3">
                  <c:v>71.66</c:v>
                </c:pt>
                <c:pt idx="4">
                  <c:v>71.97</c:v>
                </c:pt>
                <c:pt idx="5">
                  <c:v>69.54</c:v>
                </c:pt>
                <c:pt idx="6">
                  <c:v>71.31</c:v>
                </c:pt>
                <c:pt idx="7">
                  <c:v>69.01</c:v>
                </c:pt>
                <c:pt idx="8">
                  <c:v>71.13</c:v>
                </c:pt>
                <c:pt idx="9">
                  <c:v>72.1</c:v>
                </c:pt>
                <c:pt idx="10">
                  <c:v>71.53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layout</c:v>
                </c:pt>
              </c:strCache>
            </c:strRef>
          </c:tx>
          <c:spPr>
            <a:ln w="28575">
              <a:solidFill>
                <a:srgbClr val="2A78D6"/>
              </a:solidFill>
            </a:ln>
          </c:spPr>
          <c:marker>
            <c:symbol val="none"/>
          </c:marker>
          <c:cat>
            <c:strRef>
              <c:f>Sheet1!$A$2:$A$12</c:f>
              <c:strCache>
                <c:ptCount val="1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</c:strCache>
            </c:strRef>
          </c:cat>
          <c:val>
            <c:numRef>
              <c:f>Sheet1!$D$2:$D$12</c:f>
              <c:numCache>
                <c:formatCode>General</c:formatCode>
                <c:ptCount val="11"/>
                <c:pt idx="0">
                  <c:v>70.83</c:v>
                </c:pt>
                <c:pt idx="1">
                  <c:v>70.12</c:v>
                </c:pt>
                <c:pt idx="2">
                  <c:v>69.64</c:v>
                </c:pt>
                <c:pt idx="3">
                  <c:v>66.96</c:v>
                </c:pt>
                <c:pt idx="4">
                  <c:v>65.73</c:v>
                </c:pt>
                <c:pt idx="5">
                  <c:v>67.94</c:v>
                </c:pt>
                <c:pt idx="6">
                  <c:v>68.56</c:v>
                </c:pt>
                <c:pt idx="7">
                  <c:v>69.11</c:v>
                </c:pt>
                <c:pt idx="8">
                  <c:v>69.55</c:v>
                </c:pt>
                <c:pt idx="9">
                  <c:v>67.54</c:v>
                </c:pt>
                <c:pt idx="10">
                  <c:v>68.7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sz="1100" b="1">
                    <a:solidFill>
                      <a:srgbClr val="4C5566"/>
                    </a:solidFill>
                    <a:latin typeface="Arial"/>
                  </a:rPr>
                  <a:t>training pass</a:t>
                </a:r>
              </a:p>
            </c:rich>
          </c:tx>
          <c:layout/>
          <c:overlay val="0"/>
        </c:title>
        <c:majorTickMark val="none"/>
        <c:minorTickMark val="none"/>
        <c:tickLblPos val="nextTo"/>
        <c:spPr>
          <a:ln>
            <a:solidFill>
              <a:srgbClr val="E2E5EA"/>
            </a:solidFill>
          </a:ln>
        </c:spPr>
        <c:txPr>
          <a:bodyPr/>
          <a:lstStyle/>
          <a:p>
            <a:pPr>
              <a:defRPr sz="900">
                <a:solidFill>
                  <a:srgbClr val="8B94A6"/>
                </a:solidFill>
                <a:latin typeface="Arial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76.0"/>
          <c:min val="40.0"/>
        </c:scaling>
        <c:delete val="0"/>
        <c:axPos val="l"/>
        <c:majorGridlines>
          <c:spPr>
            <a:ln w="9525">
              <a:solidFill>
                <a:srgbClr val="ECEEF2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100" b="1">
                    <a:solidFill>
                      <a:srgbClr val="4C5566"/>
                    </a:solidFill>
                    <a:latin typeface="Arial"/>
                  </a:rPr>
                  <a:t>band score (0–100)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spPr>
          <a:ln>
            <a:solidFill>
              <a:srgbClr val="E2E5EA"/>
            </a:solidFill>
          </a:ln>
        </c:spPr>
        <c:txPr>
          <a:bodyPr/>
          <a:lstStyle/>
          <a:p>
            <a:pPr>
              <a:defRPr sz="1000">
                <a:solidFill>
                  <a:srgbClr val="8B94A6"/>
                </a:solidFill>
                <a:latin typeface="Arial"/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100">
              <a:latin typeface="Arial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style</c:v>
                </c:pt>
              </c:strCache>
            </c:strRef>
          </c:tx>
          <c:spPr>
            <a:ln w="28575">
              <a:solidFill>
                <a:srgbClr val="EB6834"/>
              </a:solidFill>
            </a:ln>
          </c:spPr>
          <c:marker>
            <c:symbol val="none"/>
          </c:marker>
          <c:cat>
            <c:strRef>
              <c:f>Sheet1!$A$2:$A$21</c:f>
              <c:strCache>
                <c:ptCount val="20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</c:strCache>
            </c: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35.65</c:v>
                </c:pt>
                <c:pt idx="1">
                  <c:v>34.57</c:v>
                </c:pt>
                <c:pt idx="2">
                  <c:v>33.76</c:v>
                </c:pt>
                <c:pt idx="3">
                  <c:v>34.2</c:v>
                </c:pt>
                <c:pt idx="4">
                  <c:v>35.97</c:v>
                </c:pt>
                <c:pt idx="5">
                  <c:v>35.53</c:v>
                </c:pt>
                <c:pt idx="6">
                  <c:v>33.75</c:v>
                </c:pt>
                <c:pt idx="7">
                  <c:v>35.22</c:v>
                </c:pt>
                <c:pt idx="8">
                  <c:v>35.97</c:v>
                </c:pt>
                <c:pt idx="9">
                  <c:v>36.06</c:v>
                </c:pt>
                <c:pt idx="10">
                  <c:v>34.93</c:v>
                </c:pt>
                <c:pt idx="11">
                  <c:v>35.36</c:v>
                </c:pt>
                <c:pt idx="12">
                  <c:v>36.64</c:v>
                </c:pt>
                <c:pt idx="13">
                  <c:v>36.15</c:v>
                </c:pt>
                <c:pt idx="14">
                  <c:v>38.28</c:v>
                </c:pt>
                <c:pt idx="15">
                  <c:v>36.79</c:v>
                </c:pt>
                <c:pt idx="16">
                  <c:v>43.05</c:v>
                </c:pt>
                <c:pt idx="17">
                  <c:v>37.0</c:v>
                </c:pt>
                <c:pt idx="18">
                  <c:v>32.84</c:v>
                </c:pt>
                <c:pt idx="19">
                  <c:v>35.81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legibility</c:v>
                </c:pt>
              </c:strCache>
            </c:strRef>
          </c:tx>
          <c:spPr>
            <a:ln w="28575">
              <a:solidFill>
                <a:srgbClr val="EDA100"/>
              </a:solidFill>
            </a:ln>
          </c:spPr>
          <c:marker>
            <c:symbol val="none"/>
          </c:marker>
          <c:cat>
            <c:strRef>
              <c:f>Sheet1!$A$2:$A$21</c:f>
              <c:strCache>
                <c:ptCount val="20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</c:strCache>
            </c:strRef>
          </c:cat>
          <c:val>
            <c:numRef>
              <c:f>Sheet1!$C$2:$C$21</c:f>
              <c:numCache>
                <c:formatCode>General</c:formatCode>
                <c:ptCount val="20"/>
                <c:pt idx="0">
                  <c:v>63.79</c:v>
                </c:pt>
                <c:pt idx="1">
                  <c:v>64.62</c:v>
                </c:pt>
                <c:pt idx="2">
                  <c:v>63.78</c:v>
                </c:pt>
                <c:pt idx="3">
                  <c:v>64.22</c:v>
                </c:pt>
                <c:pt idx="4">
                  <c:v>63.1</c:v>
                </c:pt>
                <c:pt idx="5">
                  <c:v>64.72</c:v>
                </c:pt>
                <c:pt idx="6">
                  <c:v>63.08</c:v>
                </c:pt>
                <c:pt idx="7">
                  <c:v>63.6</c:v>
                </c:pt>
                <c:pt idx="8">
                  <c:v>66.41</c:v>
                </c:pt>
                <c:pt idx="9">
                  <c:v>65.27</c:v>
                </c:pt>
                <c:pt idx="10">
                  <c:v>61.06</c:v>
                </c:pt>
                <c:pt idx="11">
                  <c:v>55.93</c:v>
                </c:pt>
                <c:pt idx="12">
                  <c:v>57.57</c:v>
                </c:pt>
                <c:pt idx="13">
                  <c:v>57.77</c:v>
                </c:pt>
                <c:pt idx="14">
                  <c:v>55.25</c:v>
                </c:pt>
                <c:pt idx="15">
                  <c:v>51.19</c:v>
                </c:pt>
                <c:pt idx="16">
                  <c:v>54.82</c:v>
                </c:pt>
                <c:pt idx="17">
                  <c:v>50.69</c:v>
                </c:pt>
                <c:pt idx="18">
                  <c:v>47.5</c:v>
                </c:pt>
                <c:pt idx="19">
                  <c:v>46.44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layout</c:v>
                </c:pt>
              </c:strCache>
            </c:strRef>
          </c:tx>
          <c:spPr>
            <a:ln w="28575">
              <a:solidFill>
                <a:srgbClr val="2A78D6"/>
              </a:solidFill>
            </a:ln>
          </c:spPr>
          <c:marker>
            <c:symbol val="none"/>
          </c:marker>
          <c:cat>
            <c:strRef>
              <c:f>Sheet1!$A$2:$A$21</c:f>
              <c:strCache>
                <c:ptCount val="20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</c:strCache>
            </c:strRef>
          </c:cat>
          <c:val>
            <c:numRef>
              <c:f>Sheet1!$D$2:$D$21</c:f>
              <c:numCache>
                <c:formatCode>General</c:formatCode>
                <c:ptCount val="20"/>
                <c:pt idx="0">
                  <c:v>65.19</c:v>
                </c:pt>
                <c:pt idx="1">
                  <c:v>66.3</c:v>
                </c:pt>
                <c:pt idx="2">
                  <c:v>66.63</c:v>
                </c:pt>
                <c:pt idx="3">
                  <c:v>66.6</c:v>
                </c:pt>
                <c:pt idx="4">
                  <c:v>65.47</c:v>
                </c:pt>
                <c:pt idx="5">
                  <c:v>66.02</c:v>
                </c:pt>
                <c:pt idx="6">
                  <c:v>65.93</c:v>
                </c:pt>
                <c:pt idx="7">
                  <c:v>67.12</c:v>
                </c:pt>
                <c:pt idx="8">
                  <c:v>66.2</c:v>
                </c:pt>
                <c:pt idx="9">
                  <c:v>68.22</c:v>
                </c:pt>
                <c:pt idx="10">
                  <c:v>64.75</c:v>
                </c:pt>
                <c:pt idx="11">
                  <c:v>59.69</c:v>
                </c:pt>
                <c:pt idx="12">
                  <c:v>61.56</c:v>
                </c:pt>
                <c:pt idx="13">
                  <c:v>64.88</c:v>
                </c:pt>
                <c:pt idx="14">
                  <c:v>63.84</c:v>
                </c:pt>
                <c:pt idx="15">
                  <c:v>64.15</c:v>
                </c:pt>
                <c:pt idx="16">
                  <c:v>62.28</c:v>
                </c:pt>
                <c:pt idx="17">
                  <c:v>64.39</c:v>
                </c:pt>
                <c:pt idx="18">
                  <c:v>59.53</c:v>
                </c:pt>
                <c:pt idx="19">
                  <c:v>58.82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sz="1100" b="1">
                    <a:solidFill>
                      <a:srgbClr val="4C5566"/>
                    </a:solidFill>
                    <a:latin typeface="Arial"/>
                  </a:rPr>
                  <a:t>training pass</a:t>
                </a:r>
              </a:p>
            </c:rich>
          </c:tx>
          <c:layout/>
          <c:overlay val="0"/>
        </c:title>
        <c:majorTickMark val="none"/>
        <c:minorTickMark val="none"/>
        <c:tickLblPos val="nextTo"/>
        <c:spPr>
          <a:ln>
            <a:solidFill>
              <a:srgbClr val="E2E5EA"/>
            </a:solidFill>
          </a:ln>
        </c:spPr>
        <c:txPr>
          <a:bodyPr/>
          <a:lstStyle/>
          <a:p>
            <a:pPr>
              <a:defRPr sz="900">
                <a:solidFill>
                  <a:srgbClr val="8B94A6"/>
                </a:solidFill>
                <a:latin typeface="Arial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76.0"/>
          <c:min val="40.0"/>
        </c:scaling>
        <c:delete val="0"/>
        <c:axPos val="l"/>
        <c:majorGridlines>
          <c:spPr>
            <a:ln w="9525">
              <a:solidFill>
                <a:srgbClr val="ECEEF2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100" b="1">
                    <a:solidFill>
                      <a:srgbClr val="4C5566"/>
                    </a:solidFill>
                    <a:latin typeface="Arial"/>
                  </a:rPr>
                  <a:t>band score (0–100)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spPr>
          <a:ln>
            <a:solidFill>
              <a:srgbClr val="E2E5EA"/>
            </a:solidFill>
          </a:ln>
        </c:spPr>
        <c:txPr>
          <a:bodyPr/>
          <a:lstStyle/>
          <a:p>
            <a:pPr>
              <a:defRPr sz="1000">
                <a:solidFill>
                  <a:srgbClr val="8B94A6"/>
                </a:solidFill>
                <a:latin typeface="Arial"/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100">
              <a:latin typeface="Arial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held-out mean reward</c:v>
                </c:pt>
              </c:strCache>
            </c:strRef>
          </c:tx>
          <c:spPr>
            <a:solidFill>
              <a:srgbClr val="2A78D6"/>
            </a:solidFill>
          </c:spPr>
          <c:cat>
            <c:strRef>
              <c:f>Sheet1!$A$2:$A$4</c:f>
              <c:strCache>
                <c:ptCount val="3"/>
                <c:pt idx="0">
                  <c:v>start</c:v>
                </c:pt>
                <c:pt idx="1">
                  <c:v>pass1 (30h)</c:v>
                </c:pt>
                <c:pt idx="2">
                  <c:v>pass2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0.376</c:v>
                </c:pt>
                <c:pt idx="1">
                  <c:v>0.487</c:v>
                </c:pt>
                <c:pt idx="2">
                  <c:v>0.533</c:v>
                </c:pt>
              </c:numCache>
            </c:numRef>
          </c:val>
        </c:ser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sz="1100" b="1">
                    <a:solidFill>
                      <a:srgbClr val="4C5566"/>
                    </a:solidFill>
                    <a:latin typeface="Arial"/>
                  </a:rPr>
                  <a:t>training pass (sequential)</a:t>
                </a:r>
              </a:p>
            </c:rich>
          </c:tx>
          <c:layout/>
          <c:overlay val="0"/>
        </c:title>
        <c:majorTickMark val="none"/>
        <c:minorTickMark val="none"/>
        <c:tickLblPos val="nextTo"/>
        <c:spPr>
          <a:ln>
            <a:solidFill>
              <a:srgbClr val="E2E5EA"/>
            </a:solidFill>
          </a:ln>
        </c:spPr>
        <c:txPr>
          <a:bodyPr/>
          <a:lstStyle/>
          <a:p>
            <a:pPr>
              <a:defRPr sz="1000">
                <a:solidFill>
                  <a:srgbClr val="8B94A6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65"/>
          <c:min val="0.0"/>
        </c:scaling>
        <c:delete val="0"/>
        <c:axPos val="l"/>
        <c:majorGridlines>
          <c:spPr>
            <a:ln w="9525">
              <a:solidFill>
                <a:srgbClr val="ECEEF2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100" b="1">
                    <a:solidFill>
                      <a:srgbClr val="4C5566"/>
                    </a:solidFill>
                    <a:latin typeface="Arial"/>
                  </a:rPr>
                  <a:t>mean reward (0–1)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spPr>
          <a:ln>
            <a:solidFill>
              <a:srgbClr val="E2E5EA"/>
            </a:solidFill>
          </a:ln>
        </c:spPr>
        <c:txPr>
          <a:bodyPr/>
          <a:lstStyle/>
          <a:p>
            <a:pPr>
              <a:defRPr sz="1000">
                <a:solidFill>
                  <a:srgbClr val="8B94A6"/>
                </a:solidFill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mean reward</c:v>
                </c:pt>
              </c:strCache>
            </c:strRef>
          </c:tx>
          <c:spPr>
            <a:solidFill>
              <a:srgbClr val="1BAF7A"/>
            </a:solidFill>
          </c:spPr>
          <c:cat>
            <c:strRef>
              <c:f>Sheet1!$A$2:$A$4</c:f>
              <c:strCache>
                <c:ptCount val="3"/>
                <c:pt idx="0">
                  <c:v>easy (n=90)</c:v>
                </c:pt>
                <c:pt idx="1">
                  <c:v>medium (n=124)</c:v>
                </c:pt>
                <c:pt idx="2">
                  <c:v>hard (n=32)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0.642</c:v>
                </c:pt>
                <c:pt idx="1">
                  <c:v>0.586</c:v>
                </c:pt>
                <c:pt idx="2">
                  <c:v>0.524</c:v>
                </c:pt>
              </c:numCache>
            </c:numRef>
          </c:val>
        </c:ser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sz="1100" b="1">
                    <a:solidFill>
                      <a:srgbClr val="4C5566"/>
                    </a:solidFill>
                    <a:latin typeface="Arial"/>
                  </a:rPr>
                  <a:t>dataset difficulty label</a:t>
                </a:r>
              </a:p>
            </c:rich>
          </c:tx>
          <c:layout/>
          <c:overlay val="0"/>
        </c:title>
        <c:majorTickMark val="none"/>
        <c:minorTickMark val="none"/>
        <c:tickLblPos val="nextTo"/>
        <c:spPr>
          <a:ln>
            <a:solidFill>
              <a:srgbClr val="E2E5EA"/>
            </a:solidFill>
          </a:ln>
        </c:spPr>
        <c:txPr>
          <a:bodyPr/>
          <a:lstStyle/>
          <a:p>
            <a:pPr>
              <a:defRPr sz="1000">
                <a:solidFill>
                  <a:srgbClr val="8B94A6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75"/>
          <c:min val="0.0"/>
        </c:scaling>
        <c:delete val="0"/>
        <c:axPos val="l"/>
        <c:majorGridlines>
          <c:spPr>
            <a:ln w="9525">
              <a:solidFill>
                <a:srgbClr val="ECEEF2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100" b="1">
                    <a:solidFill>
                      <a:srgbClr val="4C5566"/>
                    </a:solidFill>
                    <a:latin typeface="Arial"/>
                  </a:rPr>
                  <a:t>mean reward (0–1)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spPr>
          <a:ln>
            <a:solidFill>
              <a:srgbClr val="E2E5EA"/>
            </a:solidFill>
          </a:ln>
        </c:spPr>
        <c:txPr>
          <a:bodyPr/>
          <a:lstStyle/>
          <a:p>
            <a:pPr>
              <a:defRPr sz="1000">
                <a:solidFill>
                  <a:srgbClr val="8B94A6"/>
                </a:solidFill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widgets</c:v>
                </c:pt>
              </c:strCache>
            </c:strRef>
          </c:tx>
          <c:spPr>
            <a:solidFill>
              <a:srgbClr val="EB6834"/>
            </a:solidFill>
          </c:spPr>
          <c:cat>
            <c:strRef>
              <c:f>Sheet1!$A$2:$A$4</c:f>
              <c:strCache>
                <c:ptCount val="3"/>
                <c:pt idx="0">
                  <c:v>easy</c:v>
                </c:pt>
                <c:pt idx="1">
                  <c:v>medium</c:v>
                </c:pt>
                <c:pt idx="2">
                  <c:v>hard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286</c:v>
                </c:pt>
                <c:pt idx="1">
                  <c:v>460</c:v>
                </c:pt>
                <c:pt idx="2">
                  <c:v>288</c:v>
                </c:pt>
              </c:numCache>
            </c:numRef>
          </c:val>
        </c:ser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sz="1100" b="1">
                    <a:solidFill>
                      <a:srgbClr val="4C5566"/>
                    </a:solidFill>
                    <a:latin typeface="Arial"/>
                  </a:rPr>
                  <a:t>difficulty label</a:t>
                </a:r>
              </a:p>
            </c:rich>
          </c:tx>
          <c:layout/>
          <c:overlay val="0"/>
        </c:title>
        <c:majorTickMark val="none"/>
        <c:minorTickMark val="none"/>
        <c:tickLblPos val="nextTo"/>
        <c:spPr>
          <a:ln>
            <a:solidFill>
              <a:srgbClr val="E2E5EA"/>
            </a:solidFill>
          </a:ln>
        </c:spPr>
        <c:txPr>
          <a:bodyPr/>
          <a:lstStyle/>
          <a:p>
            <a:pPr>
              <a:defRPr sz="1000">
                <a:solidFill>
                  <a:srgbClr val="8B94A6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ECEEF2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100" b="1">
                    <a:solidFill>
                      <a:srgbClr val="4C5566"/>
                    </a:solidFill>
                    <a:latin typeface="Arial"/>
                  </a:rPr>
                  <a:t>widget count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spPr>
          <a:ln>
            <a:solidFill>
              <a:srgbClr val="E2E5EA"/>
            </a:solidFill>
          </a:ln>
        </c:spPr>
        <c:txPr>
          <a:bodyPr/>
          <a:lstStyle/>
          <a:p>
            <a:pPr>
              <a:defRPr sz="1000">
                <a:solidFill>
                  <a:srgbClr val="8B94A6"/>
                </a:solidFill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Relationship Id="rId3" Type="http://schemas.openxmlformats.org/officeDocument/2006/relationships/chart" Target="../charts/char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A78D6"/>
                </a:solidFill>
                <a:latin typeface="Arial"/>
              </a:rPr>
              <a:t>WIDGET2CODE · DAPO · KEY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88720"/>
            <a:ext cx="1078992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1A1F2B"/>
                </a:solidFill>
                <a:latin typeface="Arial"/>
              </a:rPr>
              <a:t>DAPO on widget2code — Key Results</a:t>
            </a:r>
          </a:p>
          <a:p>
            <a:pPr algn="l">
              <a:spcBef>
                <a:spcPts val="1200"/>
              </a:spcBef>
            </a:pPr>
            <a:r>
              <a:rPr sz="1700" b="0">
                <a:solidFill>
                  <a:srgbClr val="4C5566"/>
                </a:solidFill>
                <a:latin typeface="Arial"/>
              </a:rPr>
              <a:t>The strongest, cleanest results from the DAPO runs. All reward metrics are the official</a:t>
            </a:r>
          </a:p>
          <a:p>
            <a:pPr algn="l">
              <a:spcBef>
                <a:spcPts val="200"/>
              </a:spcBef>
            </a:pPr>
            <a:r>
              <a:rPr sz="1700" b="0">
                <a:solidFill>
                  <a:srgbClr val="4C5566"/>
                </a:solidFill>
                <a:latin typeface="Arial"/>
              </a:rPr>
              <a:t>widget2code composite (0–1, higher = better); band scores are 0–100, higher = better.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3154680"/>
            <a:ext cx="3502152" cy="1554480"/>
          </a:xfrm>
          <a:prstGeom prst="roundRect">
            <a:avLst/>
          </a:prstGeom>
          <a:solidFill>
            <a:srgbClr val="F4F5F7"/>
          </a:solidFill>
          <a:ln w="12700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3337560"/>
            <a:ext cx="3063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8B94A6"/>
                </a:solidFill>
                <a:latin typeface="Arial"/>
              </a:rPr>
              <a:t>HELD-OUT REWARD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" y="3657600"/>
            <a:ext cx="3063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>
                <a:solidFill>
                  <a:srgbClr val="2A78D6"/>
                </a:solidFill>
                <a:latin typeface="Arial"/>
              </a:rPr>
              <a:t>+30%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5256" y="4233672"/>
            <a:ext cx="3063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4C5566"/>
                </a:solidFill>
                <a:latin typeface="Arial"/>
              </a:rPr>
              <a:t>0.376 → 0.487 (30h, 60 widgets)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3154680"/>
            <a:ext cx="3502152" cy="1554480"/>
          </a:xfrm>
          <a:prstGeom prst="roundRect">
            <a:avLst/>
          </a:prstGeom>
          <a:solidFill>
            <a:srgbClr val="F4F5F7"/>
          </a:solidFill>
          <a:ln w="12700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62856" y="3337560"/>
            <a:ext cx="3063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8B94A6"/>
                </a:solidFill>
                <a:latin typeface="Arial"/>
              </a:rPr>
              <a:t>SINGLE-WIDGET LEARN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62856" y="3657600"/>
            <a:ext cx="3063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>
                <a:solidFill>
                  <a:srgbClr val="2A78D6"/>
                </a:solidFill>
                <a:latin typeface="Arial"/>
              </a:rPr>
              <a:t>0.30→0.70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62856" y="4233672"/>
            <a:ext cx="3063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4C5566"/>
                </a:solidFill>
                <a:latin typeface="Arial"/>
              </a:rPr>
              <a:t>150-step control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01000" y="3154680"/>
            <a:ext cx="3502152" cy="1554480"/>
          </a:xfrm>
          <a:prstGeom prst="roundRect">
            <a:avLst/>
          </a:prstGeom>
          <a:solidFill>
            <a:srgbClr val="F4F5F7"/>
          </a:solidFill>
          <a:ln w="12700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0456" y="3337560"/>
            <a:ext cx="3063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8B94A6"/>
                </a:solidFill>
                <a:latin typeface="Arial"/>
              </a:rPr>
              <a:t>ADVANTAGE GAP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0456" y="3657600"/>
            <a:ext cx="3063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>
                <a:solidFill>
                  <a:srgbClr val="2A78D6"/>
                </a:solidFill>
                <a:latin typeface="Arial"/>
              </a:rPr>
              <a:t>0.47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0456" y="4233672"/>
            <a:ext cx="3063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4C5566"/>
                </a:solidFill>
                <a:latin typeface="Arial"/>
              </a:rPr>
              <a:t>best vs worst rollout / widget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5074920"/>
            <a:ext cx="10817352" cy="960120"/>
          </a:xfrm>
          <a:prstGeom prst="roundRect">
            <a:avLst/>
          </a:prstGeom>
          <a:solidFill>
            <a:srgbClr val="FBF0F0"/>
          </a:solidFill>
          <a:ln w="12700">
            <a:solidFill>
              <a:srgbClr val="F0D2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85800" y="5074920"/>
            <a:ext cx="100584" cy="960120"/>
          </a:xfrm>
          <a:prstGeom prst="rect">
            <a:avLst/>
          </a:prstGeom>
          <a:solidFill>
            <a:srgbClr val="D0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5202936"/>
            <a:ext cx="103327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A1F2B"/>
                </a:solidFill>
                <a:latin typeface="Arial"/>
              </a:rPr>
              <a:t>Widget2Code 4.0 runs, not WidgetFlow.</a:t>
            </a: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4C5566"/>
                </a:solidFill>
                <a:latin typeface="Arial"/>
              </a:rPr>
              <a:t>Identical DAPO loop + official reward. WidgetFlow has run only the smoke; these are the reference baseline.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A78D6"/>
                </a:solidFill>
                <a:latin typeface="Arial"/>
              </a:rPr>
              <a:t>RESULT 1 · THE OBJECTIVE MOVES THE POLICY (SINGLE-WIDGET CONTROL)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6868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A1F2B"/>
                </a:solidFill>
                <a:latin typeface="Arial"/>
              </a:rPr>
              <a:t>Reward rises 0.30 → 0.70 over 150 update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71600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4C5566"/>
                </a:solidFill>
                <a:latin typeface="Arial"/>
              </a:rPr>
              <a:t>Left: mean rollout reward. Right: DAPO clip-loss. One widget, K=8 rollouts/step — the clean control.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82880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A78D6"/>
                </a:solidFill>
                <a:latin typeface="Arial"/>
              </a:rPr>
              <a:t>mean rollout reward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02920" y="2103120"/>
          <a:ext cx="5577840" cy="3977639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263640" y="182880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EB6834"/>
                </a:solidFill>
                <a:latin typeface="Arial"/>
              </a:rPr>
              <a:t>DAPO training loss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6126480" y="2103120"/>
          <a:ext cx="5577840" cy="3977639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85800" y="635508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8B94A6"/>
                </a:solidFill>
                <a:latin typeface="Arial"/>
              </a:rPr>
              <a:t>Source: dapo_overfit_debug/one_widget_bench/train.log · 150 logged update steps · reward = official widget2code composite (0–1)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A78D6"/>
                </a:solidFill>
                <a:latin typeface="Arial"/>
              </a:rPr>
              <a:t>RESULT 2 · REWARD RISES CONSISTENTLY ACROSS RUNS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6868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A1F2B"/>
                </a:solidFill>
                <a:latin typeface="Arial"/>
              </a:rPr>
              <a:t>Mean rollout reward climbs in all four multi-widget runs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71600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4C5566"/>
                </a:solidFill>
                <a:latin typeface="Arial"/>
              </a:rPr>
              <a:t>Each line = one run’s mean reward per logged update step. Runs differ in length (padded to the longest).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822960" y="2011680"/>
          <a:ext cx="10515600" cy="40233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85800" y="635508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8B94A6"/>
                </a:solidFill>
                <a:latin typeface="Arial"/>
              </a:rPr>
              <a:t>Source: {full_bench_layout, real_focused, dapo_30h, overfit}/…/train.log · reward = official widget2code composite (0–1, higher better)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A78D6"/>
                </a:solidFill>
                <a:latin typeface="Arial"/>
              </a:rPr>
              <a:t>RESULT 3 · IT GENERALISES — HELD-OUT REWARD IMPROVES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6868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A1F2B"/>
                </a:solidFill>
                <a:latin typeface="Arial"/>
              </a:rPr>
              <a:t>30-hour run: held-out mean reward +30%, dead renders nearly eliminated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71600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4C5566"/>
                </a:solidFill>
                <a:latin typeface="Arial"/>
              </a:rPr>
              <a:t>Greedy eval on 60 unseen widgets, before vs after training. Reward = official composite (0–1).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148840"/>
            <a:ext cx="3383280" cy="2148840"/>
          </a:xfrm>
          <a:prstGeom prst="roundRect">
            <a:avLst/>
          </a:prstGeom>
          <a:solidFill>
            <a:srgbClr val="F4F5F7"/>
          </a:solidFill>
          <a:ln w="12700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" y="2386584"/>
            <a:ext cx="287121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8B94A6"/>
                </a:solidFill>
                <a:latin typeface="Arial"/>
              </a:rPr>
              <a:t>MEAN REWARD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2926080"/>
            <a:ext cx="2871216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8B94A6"/>
                </a:solidFill>
                <a:latin typeface="Arial"/>
              </a:rPr>
              <a:t>before 0.376  →  </a:t>
            </a:r>
            <a:r>
              <a:rPr sz="3800" b="1">
                <a:solidFill>
                  <a:srgbClr val="1A1F2B"/>
                </a:solidFill>
                <a:latin typeface="Arial"/>
              </a:rPr>
              <a:t>0.487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" y="3840480"/>
            <a:ext cx="287121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CA30C"/>
                </a:solidFill>
                <a:latin typeface="Arial"/>
              </a:rPr>
              <a:t>+0.111  (+30%)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61688" y="2148840"/>
            <a:ext cx="3383280" cy="2148840"/>
          </a:xfrm>
          <a:prstGeom prst="roundRect">
            <a:avLst/>
          </a:prstGeom>
          <a:solidFill>
            <a:srgbClr val="F4F5F7"/>
          </a:solidFill>
          <a:ln w="12700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2386584"/>
            <a:ext cx="287121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8B94A6"/>
                </a:solidFill>
                <a:latin typeface="Arial"/>
              </a:rPr>
              <a:t>P25 · WORST QUARTILE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2926080"/>
            <a:ext cx="2871216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8B94A6"/>
                </a:solidFill>
                <a:latin typeface="Arial"/>
              </a:rPr>
              <a:t>before 0.00  →  </a:t>
            </a:r>
            <a:r>
              <a:rPr sz="3800" b="1">
                <a:solidFill>
                  <a:srgbClr val="1A1F2B"/>
                </a:solidFill>
                <a:latin typeface="Arial"/>
              </a:rPr>
              <a:t>0.34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3840480"/>
            <a:ext cx="287121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CA30C"/>
                </a:solidFill>
                <a:latin typeface="Arial"/>
              </a:rPr>
              <a:t>+0.34  fewer 0-score renders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37576" y="2148840"/>
            <a:ext cx="3383280" cy="2148840"/>
          </a:xfrm>
          <a:prstGeom prst="roundRect">
            <a:avLst/>
          </a:prstGeom>
          <a:solidFill>
            <a:srgbClr val="F4F5F7"/>
          </a:solidFill>
          <a:ln w="12700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93608" y="2386584"/>
            <a:ext cx="287121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8B94A6"/>
                </a:solidFill>
                <a:latin typeface="Arial"/>
              </a:rPr>
              <a:t>P75 · BEST QUARTILE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93608" y="2926080"/>
            <a:ext cx="2871216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8B94A6"/>
                </a:solidFill>
                <a:latin typeface="Arial"/>
              </a:rPr>
              <a:t>before 0.594  →  </a:t>
            </a:r>
            <a:r>
              <a:rPr sz="3800" b="1">
                <a:solidFill>
                  <a:srgbClr val="1A1F2B"/>
                </a:solidFill>
                <a:latin typeface="Arial"/>
              </a:rPr>
              <a:t>0.703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93608" y="3840480"/>
            <a:ext cx="287121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CA30C"/>
                </a:solidFill>
                <a:latin typeface="Arial"/>
              </a:rPr>
              <a:t>+0.109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709160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4C5566"/>
                </a:solidFill>
                <a:latin typeface="Arial"/>
              </a:rPr>
              <a:t>A second paired run agrees: dapo_priority_validate held-out mean 0.385 → 0.442 (+0.057).</a:t>
            </a:r>
          </a:p>
          <a:p>
            <a:pPr algn="l">
              <a:spcBef>
                <a:spcPts val="300"/>
              </a:spcBef>
            </a:pPr>
            <a:r>
              <a:rPr sz="1350" b="0">
                <a:solidFill>
                  <a:srgbClr val="4C5566"/>
                </a:solidFill>
                <a:latin typeface="Arial"/>
              </a:rPr>
              <a:t>The largest gain is the worst quartile (p25 0.00 → 0.34): the policy stops emitting un-renderable JSX.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635508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8B94A6"/>
                </a:solidFill>
                <a:latin typeface="Arial"/>
              </a:rPr>
              <a:t>Source: dapo_30h/{eval_before_held,eval_after_held}.json · n=60 held-out widgets · 240 valid rollouts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A78D6"/>
                </a:solidFill>
                <a:latin typeface="Arial"/>
              </a:rPr>
              <a:t>RESULT 4 · A STRONG PER-WIDGET LEARNING SIGNAL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6868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A1F2B"/>
                </a:solidFill>
                <a:latin typeface="Arial"/>
              </a:rPr>
              <a:t>Best rollout 0.77 vs worst 0.30 — a 0.47 within-group gap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71600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4C5566"/>
                </a:solidFill>
                <a:latin typeface="Arial"/>
              </a:rPr>
              <a:t>For each widget, DAPO’s advantage is the spread across its K=8 rollouts. Bars show that spread’s percentiles.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822960" y="2011680"/>
          <a:ext cx="6766560" cy="3977639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863840" y="2194560"/>
            <a:ext cx="36576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A1F2B"/>
                </a:solidFill>
                <a:latin typeface="Arial"/>
              </a:rPr>
              <a:t>What it means</a:t>
            </a:r>
          </a:p>
          <a:p>
            <a:pPr algn="l">
              <a:spcBef>
                <a:spcPts val="1000"/>
              </a:spcBef>
            </a:pPr>
            <a:r>
              <a:rPr sz="1300" b="0">
                <a:solidFill>
                  <a:srgbClr val="4C5566"/>
                </a:solidFill>
                <a:latin typeface="Arial"/>
              </a:rPr>
              <a:t>Advantage = within-group reward spread. A wide best↔worst gap means a strong, non-degenerate gradient per widget.</a:t>
            </a:r>
          </a:p>
          <a:p>
            <a:pPr algn="l">
              <a:spcBef>
                <a:spcPts val="1400"/>
              </a:spcBef>
            </a:pPr>
            <a:r>
              <a:rPr sz="1600" b="1">
                <a:solidFill>
                  <a:srgbClr val="0CA30C"/>
                </a:solidFill>
                <a:latin typeface="Arial"/>
              </a:rPr>
              <a:t>Mean gap  0.471</a:t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8B94A6"/>
                </a:solidFill>
                <a:latin typeface="Arial"/>
              </a:rPr>
              <a:t>across 519 widgets</a:t>
            </a:r>
          </a:p>
          <a:p>
            <a:pPr algn="l">
              <a:spcBef>
                <a:spcPts val="1400"/>
              </a:spcBef>
            </a:pPr>
            <a:r>
              <a:rPr sz="1250" b="0">
                <a:solidFill>
                  <a:srgbClr val="4C5566"/>
                </a:solidFill>
                <a:latin typeface="Arial"/>
              </a:rPr>
              <a:t>WidgetFlow’s ablation-credit routes this gap onto the specific tokens responsible.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35508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8B94A6"/>
                </a:solidFill>
                <a:latin typeface="Arial"/>
              </a:rPr>
              <a:t>Source: dapo_30h/replay.jsonl · 519 widgets · chosen = highest-reward rollout, rejected = lowest, per widget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A78D6"/>
                </a:solidFill>
                <a:latin typeface="Arial"/>
              </a:rPr>
              <a:t>RESULT 5 · REWARD DISTRIBUTION OF 4,160 ROLLOUTS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6868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A1F2B"/>
                </a:solidFill>
                <a:latin typeface="Arial"/>
              </a:rPr>
              <a:t>Broadly spread rewards, with a 5.8% spike at zero (failed renders)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71600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4C5566"/>
                </a:solidFill>
                <a:latin typeface="Arial"/>
              </a:rPr>
              <a:t>Every individual rollout reward from the 30-hour run, binned into tenths.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02920" y="2011680"/>
          <a:ext cx="7040880" cy="3977639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818120" y="2011680"/>
            <a:ext cx="3703320" cy="603504"/>
          </a:xfrm>
          <a:prstGeom prst="roundRect">
            <a:avLst/>
          </a:prstGeom>
          <a:solidFill>
            <a:srgbClr val="F4F5F7"/>
          </a:solidFill>
          <a:ln w="12700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01000" y="2084832"/>
            <a:ext cx="3337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8B94A6"/>
                </a:solidFill>
                <a:latin typeface="Arial"/>
              </a:rPr>
              <a:t>MEAN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1000" y="2066544"/>
            <a:ext cx="3337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700" b="1">
                <a:solidFill>
                  <a:srgbClr val="1A1F2B"/>
                </a:solidFill>
                <a:latin typeface="Arial"/>
              </a:rPr>
              <a:t>0.526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18120" y="2688336"/>
            <a:ext cx="3703320" cy="603504"/>
          </a:xfrm>
          <a:prstGeom prst="roundRect">
            <a:avLst/>
          </a:prstGeom>
          <a:solidFill>
            <a:srgbClr val="F4F5F7"/>
          </a:solidFill>
          <a:ln w="12700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01000" y="2761488"/>
            <a:ext cx="3337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8B94A6"/>
                </a:solidFill>
                <a:latin typeface="Arial"/>
              </a:rPr>
              <a:t>MEDIAN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1000" y="2743200"/>
            <a:ext cx="3337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700" b="1">
                <a:solidFill>
                  <a:srgbClr val="1A1F2B"/>
                </a:solidFill>
                <a:latin typeface="Arial"/>
              </a:rPr>
              <a:t>0.522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18120" y="3364992"/>
            <a:ext cx="3703320" cy="603504"/>
          </a:xfrm>
          <a:prstGeom prst="roundRect">
            <a:avLst/>
          </a:prstGeom>
          <a:solidFill>
            <a:srgbClr val="F4F5F7"/>
          </a:solidFill>
          <a:ln w="12700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01000" y="3438144"/>
            <a:ext cx="3337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8B94A6"/>
                </a:solidFill>
                <a:latin typeface="Arial"/>
              </a:rPr>
              <a:t>STD DEV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01000" y="3419856"/>
            <a:ext cx="3337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700" b="1">
                <a:solidFill>
                  <a:srgbClr val="1A1F2B"/>
                </a:solidFill>
                <a:latin typeface="Arial"/>
              </a:rPr>
              <a:t>0.211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18120" y="4041648"/>
            <a:ext cx="3703320" cy="603504"/>
          </a:xfrm>
          <a:prstGeom prst="roundRect">
            <a:avLst/>
          </a:prstGeom>
          <a:solidFill>
            <a:srgbClr val="F4F5F7"/>
          </a:solidFill>
          <a:ln w="12700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01000" y="4114800"/>
            <a:ext cx="3337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8B94A6"/>
                </a:solidFill>
                <a:latin typeface="Arial"/>
              </a:rPr>
              <a:t>P10 / P90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01000" y="4096512"/>
            <a:ext cx="3337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700" b="1">
                <a:solidFill>
                  <a:srgbClr val="1A1F2B"/>
                </a:solidFill>
                <a:latin typeface="Arial"/>
              </a:rPr>
              <a:t>0.32 / 0.79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818120" y="4718304"/>
            <a:ext cx="3703320" cy="603504"/>
          </a:xfrm>
          <a:prstGeom prst="roundRect">
            <a:avLst/>
          </a:prstGeom>
          <a:solidFill>
            <a:srgbClr val="F4F5F7"/>
          </a:solidFill>
          <a:ln w="12700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01000" y="4791456"/>
            <a:ext cx="3337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8B94A6"/>
                </a:solidFill>
                <a:latin typeface="Arial"/>
              </a:rPr>
              <a:t>P25 / P75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01000" y="4773168"/>
            <a:ext cx="3337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700" b="1">
                <a:solidFill>
                  <a:srgbClr val="1A1F2B"/>
                </a:solidFill>
                <a:latin typeface="Arial"/>
              </a:rPr>
              <a:t>0.40 / 0.67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818120" y="5394960"/>
            <a:ext cx="3703320" cy="603504"/>
          </a:xfrm>
          <a:prstGeom prst="roundRect">
            <a:avLst/>
          </a:prstGeom>
          <a:solidFill>
            <a:srgbClr val="F4F5F7"/>
          </a:solidFill>
          <a:ln w="12700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01000" y="5468112"/>
            <a:ext cx="3337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8B94A6"/>
                </a:solidFill>
                <a:latin typeface="Arial"/>
              </a:rPr>
              <a:t>ZERO-REWARD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01000" y="5449824"/>
            <a:ext cx="3337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700" b="1">
                <a:solidFill>
                  <a:srgbClr val="1A1F2B"/>
                </a:solidFill>
                <a:latin typeface="Arial"/>
              </a:rPr>
              <a:t>243 · 5.8%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635508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8B94A6"/>
                </a:solidFill>
                <a:latin typeface="Arial"/>
              </a:rPr>
              <a:t>Source: dapo_30h/full_run.log · 4,160 rollout rewards (520 widget-visits × 8) · reward = official composite (0–1)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A78D6"/>
                </a:solidFill>
                <a:latin typeface="Arial"/>
              </a:rPr>
              <a:t>RESULT 6 · MULTI-OBJECTIVE — A CONTROLLED TRADE vs A COLLAPSE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6868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A1F2B"/>
                </a:solidFill>
                <a:latin typeface="Arial"/>
              </a:rPr>
              <a:t>Same reward, two outcomes: dapo4 lifts weak bands; dapo5 lets legibility collapse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71600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4C5566"/>
                </a:solidFill>
                <a:latin typeface="Arial"/>
              </a:rPr>
              <a:t>Held-out per-band score (0–100) per training pass. This is the tension WidgetFlow’s Controller + credit target.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82880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A78D6"/>
                </a:solidFill>
                <a:latin typeface="Arial"/>
              </a:rPr>
              <a:t>dapo4 · controlled trade (11 passes)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02920" y="2103120"/>
          <a:ext cx="5577840" cy="39319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263640" y="182880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D03B3B"/>
                </a:solidFill>
                <a:latin typeface="Arial"/>
              </a:rPr>
              <a:t>dapo5 · legibility collapse (20 passes)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6126480" y="2103120"/>
          <a:ext cx="5577840" cy="39319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85800" y="635508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8B94A6"/>
                </a:solidFill>
                <a:latin typeface="Arial"/>
              </a:rPr>
              <a:t>Source: dapo4_vanilla_multiband, dapo5_base_multiband /probe_pass*.json · bands = official widget_quality (0–100, higher better)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A78D6"/>
                </a:solidFill>
                <a:latin typeface="Arial"/>
              </a:rPr>
              <a:t>RESULT 7 · HELD-OUT REWARD IMPROVES EVERY PASS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6868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A1F2B"/>
                </a:solidFill>
                <a:latin typeface="Arial"/>
              </a:rPr>
              <a:t>Three sequential passes: held-out mean 0.376 → 0.487 → 0.533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71600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4C5566"/>
                </a:solidFill>
                <a:latin typeface="Arial"/>
              </a:rPr>
              <a:t>Greedy eval on the same 60 held-out widgets after each training pass. Bars = mean; p25/p75 shown as tiles.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822960" y="2011680"/>
          <a:ext cx="6766560" cy="3977639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863840" y="2103120"/>
            <a:ext cx="3657600" cy="1143000"/>
          </a:xfrm>
          <a:prstGeom prst="roundRect">
            <a:avLst/>
          </a:prstGeom>
          <a:solidFill>
            <a:srgbClr val="F4F5F7"/>
          </a:solidFill>
          <a:ln w="12700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83296" y="2231136"/>
            <a:ext cx="321868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8B94A6"/>
                </a:solidFill>
                <a:latin typeface="Arial"/>
              </a:rPr>
              <a:t>START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83296" y="2523744"/>
            <a:ext cx="321868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A1F2B"/>
                </a:solidFill>
                <a:latin typeface="Arial"/>
              </a:rPr>
              <a:t>mean 0.376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83296" y="2926080"/>
            <a:ext cx="321868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4C5566"/>
                </a:solidFill>
                <a:latin typeface="Arial"/>
              </a:rPr>
              <a:t>p25 0.00  ·  p75 0.59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63840" y="3410712"/>
            <a:ext cx="3657600" cy="1143000"/>
          </a:xfrm>
          <a:prstGeom prst="roundRect">
            <a:avLst/>
          </a:prstGeom>
          <a:solidFill>
            <a:srgbClr val="F4F5F7"/>
          </a:solidFill>
          <a:ln w="12700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83296" y="3538728"/>
            <a:ext cx="321868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8B94A6"/>
                </a:solidFill>
                <a:latin typeface="Arial"/>
              </a:rPr>
              <a:t>PASS1 (30H)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83296" y="3831336"/>
            <a:ext cx="321868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A1F2B"/>
                </a:solidFill>
                <a:latin typeface="Arial"/>
              </a:rPr>
              <a:t>mean 0.487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83296" y="4233672"/>
            <a:ext cx="321868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4C5566"/>
                </a:solidFill>
                <a:latin typeface="Arial"/>
              </a:rPr>
              <a:t>p25 0.34  ·  p75 0.70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63840" y="4718304"/>
            <a:ext cx="3657600" cy="1143000"/>
          </a:xfrm>
          <a:prstGeom prst="roundRect">
            <a:avLst/>
          </a:prstGeom>
          <a:solidFill>
            <a:srgbClr val="F4F5F7"/>
          </a:solidFill>
          <a:ln w="12700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83296" y="4846320"/>
            <a:ext cx="321868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8B94A6"/>
                </a:solidFill>
                <a:latin typeface="Arial"/>
              </a:rPr>
              <a:t>PASS2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83296" y="5138928"/>
            <a:ext cx="321868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A1F2B"/>
                </a:solidFill>
                <a:latin typeface="Arial"/>
              </a:rPr>
              <a:t>mean 0.533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83296" y="5541264"/>
            <a:ext cx="321868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4C5566"/>
                </a:solidFill>
                <a:latin typeface="Arial"/>
              </a:rPr>
              <a:t>p25 0.42  ·  p75 0.73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635508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8B94A6"/>
                </a:solidFill>
                <a:latin typeface="Arial"/>
              </a:rPr>
              <a:t>Source: dapo_30h/{eval_before,eval_after}_held.json + dapo_30h_pass2/eval_after_held.json · n=60 held-out widgets each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A78D6"/>
                </a:solidFill>
                <a:latin typeface="Arial"/>
              </a:rPr>
              <a:t>RESULT 8 · REWARD TRACKS WIDGET DIFFICULTY (SANITY CHECK)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6868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A1F2B"/>
                </a:solidFill>
                <a:latin typeface="Arial"/>
              </a:rPr>
              <a:t>Reward falls monotonically with difficulty: easy 0.64 → medium 0.59 → hard 0.52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71600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4C5566"/>
                </a:solidFill>
                <a:latin typeface="Arial"/>
              </a:rPr>
              <a:t>Mean reward of scored rollouts, bucketed by the dataset’s own difficulty label. Confirms the reward is meaningful.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822960" y="2011680"/>
          <a:ext cx="6766560" cy="3977639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955279" y="2194560"/>
            <a:ext cx="356616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A1F2B"/>
                </a:solidFill>
                <a:latin typeface="Arial"/>
              </a:rPr>
              <a:t>Also by raw complexity</a:t>
            </a:r>
          </a:p>
          <a:p>
            <a:pPr algn="l">
              <a:spcBef>
                <a:spcPts val="800"/>
              </a:spcBef>
            </a:pPr>
            <a:r>
              <a:rPr sz="1200" b="0">
                <a:solidFill>
                  <a:srgbClr val="4C5566"/>
                </a:solidFill>
                <a:latin typeface="Arial"/>
              </a:rPr>
              <a:t>bucketed by n_boxes (element count):</a:t>
            </a:r>
          </a:p>
          <a:p>
            <a:pPr algn="l">
              <a:spcBef>
                <a:spcPts val="600"/>
              </a:spcBef>
            </a:pPr>
            <a:r>
              <a:rPr sz="1300" b="0">
                <a:solidFill>
                  <a:srgbClr val="4C5566"/>
                </a:solidFill>
                <a:latin typeface="Arial"/>
              </a:rPr>
              <a:t>simple (≤6)   0.631   (n=117)</a:t>
            </a:r>
          </a:p>
          <a:p>
            <a:pPr algn="l">
              <a:spcBef>
                <a:spcPts val="600"/>
              </a:spcBef>
            </a:pPr>
            <a:r>
              <a:rPr sz="1300" b="0">
                <a:solidFill>
                  <a:srgbClr val="4C5566"/>
                </a:solidFill>
                <a:latin typeface="Arial"/>
              </a:rPr>
              <a:t>medium (7–15)   0.572   (n=133)</a:t>
            </a:r>
          </a:p>
          <a:p>
            <a:pPr algn="l">
              <a:spcBef>
                <a:spcPts val="1400"/>
              </a:spcBef>
            </a:pPr>
            <a:r>
              <a:rPr sz="1200" b="0">
                <a:solidFill>
                  <a:srgbClr val="8B94A6"/>
                </a:solidFill>
                <a:latin typeface="Arial"/>
              </a:rPr>
              <a:t>More on-screen elements → harder to reproduce → lower reward. Exactly the expected ordering.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35508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8B94A6"/>
                </a:solidFill>
                <a:latin typeface="Arial"/>
              </a:rPr>
              <a:t>Source: dapo_30h/vcrl_audit.jsonl ∩ candidates.jsonl · difficulty_bin &amp; n_boxes from dataset · reward = official composite (0–1)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A78D6"/>
                </a:solidFill>
                <a:latin typeface="Arial"/>
              </a:rPr>
              <a:t>DATASET · COMPOSITION OF THE TRAINING POOL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6868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A1F2B"/>
                </a:solidFill>
                <a:latin typeface="Arial"/>
              </a:rPr>
              <a:t>1,034 synthetic widgets: balanced difficulty, wide complexity range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71600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4C5566"/>
                </a:solidFill>
                <a:latin typeface="Arial"/>
              </a:rPr>
              <a:t>The pool DAPO drew from. Left: difficulty mix. Right: complexity and top widget families.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822960" y="2011680"/>
          <a:ext cx="5852160" cy="3977639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040880" y="2148840"/>
            <a:ext cx="448056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A1F2B"/>
                </a:solidFill>
                <a:latin typeface="Arial"/>
              </a:rPr>
              <a:t>Complexity (elements per widget)</a:t>
            </a:r>
          </a:p>
          <a:p>
            <a:pPr algn="l">
              <a:spcBef>
                <a:spcPts val="800"/>
              </a:spcBef>
            </a:pPr>
            <a:r>
              <a:rPr sz="1400" b="0">
                <a:solidFill>
                  <a:srgbClr val="4C5566"/>
                </a:solidFill>
                <a:latin typeface="Arial"/>
              </a:rPr>
              <a:t>range  3 – 87 boxes</a:t>
            </a:r>
          </a:p>
          <a:p>
            <a:pPr algn="l">
              <a:spcBef>
                <a:spcPts val="400"/>
              </a:spcBef>
            </a:pPr>
            <a:r>
              <a:rPr sz="1400" b="0">
                <a:solidFill>
                  <a:srgbClr val="4C5566"/>
                </a:solidFill>
                <a:latin typeface="Arial"/>
              </a:rPr>
              <a:t>median  11   ·   mean  18.3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0" y="3977639"/>
            <a:ext cx="448056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A1F2B"/>
                </a:solidFill>
                <a:latin typeface="Arial"/>
              </a:rPr>
              <a:t>Top widget families</a:t>
            </a:r>
          </a:p>
          <a:p>
            <a:pPr algn="l">
              <a:spcBef>
                <a:spcPts val="500"/>
              </a:spcBef>
            </a:pPr>
            <a:r>
              <a:rPr sz="1250" b="0">
                <a:solidFill>
                  <a:srgbClr val="4C5566"/>
                </a:solidFill>
                <a:latin typeface="Arial"/>
              </a:rPr>
              <a:t>horizontal scroll chip row   (32)</a:t>
            </a:r>
          </a:p>
          <a:p>
            <a:pPr algn="l">
              <a:spcBef>
                <a:spcPts val="500"/>
              </a:spcBef>
            </a:pPr>
            <a:r>
              <a:rPr sz="1250" b="0">
                <a:solidFill>
                  <a:srgbClr val="4C5566"/>
                </a:solidFill>
                <a:latin typeface="Arial"/>
              </a:rPr>
              <a:t>compact list   (31)</a:t>
            </a:r>
          </a:p>
          <a:p>
            <a:pPr algn="l">
              <a:spcBef>
                <a:spcPts val="500"/>
              </a:spcBef>
            </a:pPr>
            <a:r>
              <a:rPr sz="1250" b="0">
                <a:solidFill>
                  <a:srgbClr val="4C5566"/>
                </a:solidFill>
                <a:latin typeface="Arial"/>
              </a:rPr>
              <a:t>multi stat   (31)</a:t>
            </a:r>
          </a:p>
          <a:p>
            <a:pPr algn="l">
              <a:spcBef>
                <a:spcPts val="500"/>
              </a:spcBef>
            </a:pPr>
            <a:r>
              <a:rPr sz="1250" b="0">
                <a:solidFill>
                  <a:srgbClr val="4C5566"/>
                </a:solidFill>
                <a:latin typeface="Arial"/>
              </a:rPr>
              <a:t>user profile snippet   (30)</a:t>
            </a:r>
          </a:p>
          <a:p>
            <a:pPr algn="l">
              <a:spcBef>
                <a:spcPts val="500"/>
              </a:spcBef>
            </a:pPr>
            <a:r>
              <a:rPr sz="1250" b="0">
                <a:solidFill>
                  <a:srgbClr val="4C5566"/>
                </a:solidFill>
                <a:latin typeface="Arial"/>
              </a:rPr>
              <a:t>notification stack   (29)</a:t>
            </a:r>
          </a:p>
          <a:p>
            <a:pPr algn="l">
              <a:spcBef>
                <a:spcPts val="500"/>
              </a:spcBef>
            </a:pPr>
            <a:r>
              <a:rPr sz="1250" b="0">
                <a:solidFill>
                  <a:srgbClr val="4C5566"/>
                </a:solidFill>
                <a:latin typeface="Arial"/>
              </a:rPr>
              <a:t>donut legend   (29)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635508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8B94A6"/>
                </a:solidFill>
                <a:latin typeface="Arial"/>
              </a:rPr>
              <a:t>Source: dapo_30h/candidates.jsonl · 1,034 labelled widgets · difficulty_bin, n_boxes, family fields from the synthetic generator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A78D6"/>
                </a:solidFill>
                <a:latin typeface="Arial"/>
              </a:rPr>
              <a:t>APPENDIX · RUN REGISTRY (RECEIPTS)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6868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A1F2B"/>
                </a:solidFill>
                <a:latin typeface="Arial"/>
              </a:rPr>
              <a:t>Every step-logged run parsed for this deck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71600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4C5566"/>
                </a:solidFill>
                <a:latin typeface="Arial"/>
              </a:rPr>
              <a:t>Reward = mean rollout reward (official composite, 0–1). Δ = end − start.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280160" y="2011680"/>
          <a:ext cx="9601200" cy="255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1920240"/>
                <a:gridCol w="1920240"/>
                <a:gridCol w="1920240"/>
                <a:gridCol w="1920240"/>
              </a:tblGrid>
              <a:tr h="51816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run</a:t>
                      </a:r>
                    </a:p>
                  </a:txBody>
                  <a:tcPr>
                    <a:solidFill>
                      <a:srgbClr val="2A78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logged steps</a:t>
                      </a:r>
                    </a:p>
                  </a:txBody>
                  <a:tcPr>
                    <a:solidFill>
                      <a:srgbClr val="2A78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reward start</a:t>
                      </a:r>
                    </a:p>
                  </a:txBody>
                  <a:tcPr>
                    <a:solidFill>
                      <a:srgbClr val="2A78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reward end</a:t>
                      </a:r>
                    </a:p>
                  </a:txBody>
                  <a:tcPr>
                    <a:solidFill>
                      <a:srgbClr val="2A78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Δ reward</a:t>
                      </a:r>
                    </a:p>
                  </a:txBody>
                  <a:tcPr>
                    <a:solidFill>
                      <a:srgbClr val="2A78D6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F2B"/>
                          </a:solidFill>
                          <a:latin typeface="Arial"/>
                        </a:rPr>
                        <a:t>one_widget_bench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A1F2B"/>
                          </a:solidFill>
                          <a:latin typeface="Arial"/>
                        </a:rPr>
                        <a:t>150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A1F2B"/>
                          </a:solidFill>
                          <a:latin typeface="Arial"/>
                        </a:rPr>
                        <a:t>0.296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A1F2B"/>
                          </a:solidFill>
                          <a:latin typeface="Arial"/>
                        </a:rPr>
                        <a:t>0.698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0CA30C"/>
                          </a:solidFill>
                          <a:latin typeface="Arial"/>
                        </a:rPr>
                        <a:t>+0.402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F2B"/>
                          </a:solidFill>
                          <a:latin typeface="Arial"/>
                        </a:rPr>
                        <a:t>full_bench_layout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A1F2B"/>
                          </a:solidFill>
                          <a:latin typeface="Arial"/>
                        </a:rPr>
                        <a:t>72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A1F2B"/>
                          </a:solidFill>
                          <a:latin typeface="Arial"/>
                        </a:rPr>
                        <a:t>0.444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A1F2B"/>
                          </a:solidFill>
                          <a:latin typeface="Arial"/>
                        </a:rPr>
                        <a:t>0.554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0CA30C"/>
                          </a:solidFill>
                          <a:latin typeface="Arial"/>
                        </a:rPr>
                        <a:t>+0.110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F2B"/>
                          </a:solidFill>
                          <a:latin typeface="Arial"/>
                        </a:rPr>
                        <a:t>real_focused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A1F2B"/>
                          </a:solidFill>
                          <a:latin typeface="Arial"/>
                        </a:rPr>
                        <a:t>49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A1F2B"/>
                          </a:solidFill>
                          <a:latin typeface="Arial"/>
                        </a:rPr>
                        <a:t>0.336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A1F2B"/>
                          </a:solidFill>
                          <a:latin typeface="Arial"/>
                        </a:rPr>
                        <a:t>0.519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0CA30C"/>
                          </a:solidFill>
                          <a:latin typeface="Arial"/>
                        </a:rPr>
                        <a:t>+0.183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F2B"/>
                          </a:solidFill>
                          <a:latin typeface="Arial"/>
                        </a:rPr>
                        <a:t>dapo_30h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A1F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A1F2B"/>
                          </a:solidFill>
                          <a:latin typeface="Arial"/>
                        </a:rPr>
                        <a:t>0.486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A1F2B"/>
                          </a:solidFill>
                          <a:latin typeface="Arial"/>
                        </a:rPr>
                        <a:t>0.552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0CA30C"/>
                          </a:solidFill>
                          <a:latin typeface="Arial"/>
                        </a:rPr>
                        <a:t>+0.066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F2B"/>
                          </a:solidFill>
                          <a:latin typeface="Arial"/>
                        </a:rPr>
                        <a:t>overfit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A1F2B"/>
                          </a:solidFill>
                          <a:latin typeface="Arial"/>
                        </a:rPr>
                        <a:t>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A1F2B"/>
                          </a:solidFill>
                          <a:latin typeface="Arial"/>
                        </a:rPr>
                        <a:t>0.355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A1F2B"/>
                          </a:solidFill>
                          <a:latin typeface="Arial"/>
                        </a:rPr>
                        <a:t>0.502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0CA30C"/>
                          </a:solidFill>
                          <a:latin typeface="Arial"/>
                        </a:rPr>
                        <a:t>+0.147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85800" y="635508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8B94A6"/>
                </a:solidFill>
                <a:latin typeface="Arial"/>
              </a:rPr>
              <a:t>All reward values are the official widget2code composite (0–1). Source dir: /shared/advey/rl_large_run_20260628/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