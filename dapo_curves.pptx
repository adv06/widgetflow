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layout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p0</c:v>
                </c:pt>
                <c:pt idx="1">
                  <c:v>p1</c:v>
                </c:pt>
                <c:pt idx="2">
                  <c:v>p2</c:v>
                </c:pt>
                <c:pt idx="3">
                  <c:v>p3</c:v>
                </c:pt>
                <c:pt idx="4">
                  <c:v>p4</c:v>
                </c:pt>
                <c:pt idx="5">
                  <c:v>p5</c:v>
                </c:pt>
                <c:pt idx="6">
                  <c:v>p6</c:v>
                </c:pt>
                <c:pt idx="7">
                  <c:v>p7</c:v>
                </c:pt>
                <c:pt idx="8">
                  <c:v>p8</c:v>
                </c:pt>
                <c:pt idx="9">
                  <c:v>p9</c:v>
                </c:pt>
                <c:pt idx="10">
                  <c:v>p10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70.83</c:v>
                </c:pt>
                <c:pt idx="1">
                  <c:v>70.12</c:v>
                </c:pt>
                <c:pt idx="2">
                  <c:v>69.64</c:v>
                </c:pt>
                <c:pt idx="3">
                  <c:v>66.96</c:v>
                </c:pt>
                <c:pt idx="4">
                  <c:v>65.73</c:v>
                </c:pt>
                <c:pt idx="5">
                  <c:v>67.94</c:v>
                </c:pt>
                <c:pt idx="6">
                  <c:v>68.56</c:v>
                </c:pt>
                <c:pt idx="7">
                  <c:v>69.11</c:v>
                </c:pt>
                <c:pt idx="8">
                  <c:v>69.55</c:v>
                </c:pt>
                <c:pt idx="9">
                  <c:v>67.54</c:v>
                </c:pt>
                <c:pt idx="10">
                  <c:v>68.7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style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p0</c:v>
                </c:pt>
                <c:pt idx="1">
                  <c:v>p1</c:v>
                </c:pt>
                <c:pt idx="2">
                  <c:v>p2</c:v>
                </c:pt>
                <c:pt idx="3">
                  <c:v>p3</c:v>
                </c:pt>
                <c:pt idx="4">
                  <c:v>p4</c:v>
                </c:pt>
                <c:pt idx="5">
                  <c:v>p5</c:v>
                </c:pt>
                <c:pt idx="6">
                  <c:v>p6</c:v>
                </c:pt>
                <c:pt idx="7">
                  <c:v>p7</c:v>
                </c:pt>
                <c:pt idx="8">
                  <c:v>p8</c:v>
                </c:pt>
                <c:pt idx="9">
                  <c:v>p9</c:v>
                </c:pt>
                <c:pt idx="10">
                  <c:v>p10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44.08</c:v>
                </c:pt>
                <c:pt idx="1">
                  <c:v>43.18</c:v>
                </c:pt>
                <c:pt idx="2">
                  <c:v>42.55</c:v>
                </c:pt>
                <c:pt idx="3">
                  <c:v>45.18</c:v>
                </c:pt>
                <c:pt idx="4">
                  <c:v>47.32</c:v>
                </c:pt>
                <c:pt idx="5">
                  <c:v>46.27</c:v>
                </c:pt>
                <c:pt idx="6">
                  <c:v>47.43</c:v>
                </c:pt>
                <c:pt idx="7">
                  <c:v>47.97</c:v>
                </c:pt>
                <c:pt idx="8">
                  <c:v>48.45</c:v>
                </c:pt>
                <c:pt idx="9">
                  <c:v>46.56</c:v>
                </c:pt>
                <c:pt idx="10">
                  <c:v>48.93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perceptual</c:v>
                </c:pt>
              </c:strCache>
            </c:strRef>
          </c:tx>
          <c:spPr>
            <a:ln w="28575">
              <a:solidFill>
                <a:srgbClr val="1BAF7A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p0</c:v>
                </c:pt>
                <c:pt idx="1">
                  <c:v>p1</c:v>
                </c:pt>
                <c:pt idx="2">
                  <c:v>p2</c:v>
                </c:pt>
                <c:pt idx="3">
                  <c:v>p3</c:v>
                </c:pt>
                <c:pt idx="4">
                  <c:v>p4</c:v>
                </c:pt>
                <c:pt idx="5">
                  <c:v>p5</c:v>
                </c:pt>
                <c:pt idx="6">
                  <c:v>p6</c:v>
                </c:pt>
                <c:pt idx="7">
                  <c:v>p7</c:v>
                </c:pt>
                <c:pt idx="8">
                  <c:v>p8</c:v>
                </c:pt>
                <c:pt idx="9">
                  <c:v>p9</c:v>
                </c:pt>
                <c:pt idx="10">
                  <c:v>p10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65.58</c:v>
                </c:pt>
                <c:pt idx="1">
                  <c:v>66.76</c:v>
                </c:pt>
                <c:pt idx="2">
                  <c:v>67.31</c:v>
                </c:pt>
                <c:pt idx="3">
                  <c:v>69.06</c:v>
                </c:pt>
                <c:pt idx="4">
                  <c:v>70.04</c:v>
                </c:pt>
                <c:pt idx="5">
                  <c:v>69.98</c:v>
                </c:pt>
                <c:pt idx="6">
                  <c:v>69.4</c:v>
                </c:pt>
                <c:pt idx="7">
                  <c:v>69.61</c:v>
                </c:pt>
                <c:pt idx="8">
                  <c:v>69.94</c:v>
                </c:pt>
                <c:pt idx="9">
                  <c:v>70.69</c:v>
                </c:pt>
                <c:pt idx="10">
                  <c:v>70.04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legibility</c:v>
                </c:pt>
              </c:strCache>
            </c:strRef>
          </c:tx>
          <c:spPr>
            <a:ln w="28575">
              <a:solidFill>
                <a:srgbClr val="EDA10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p0</c:v>
                </c:pt>
                <c:pt idx="1">
                  <c:v>p1</c:v>
                </c:pt>
                <c:pt idx="2">
                  <c:v>p2</c:v>
                </c:pt>
                <c:pt idx="3">
                  <c:v>p3</c:v>
                </c:pt>
                <c:pt idx="4">
                  <c:v>p4</c:v>
                </c:pt>
                <c:pt idx="5">
                  <c:v>p5</c:v>
                </c:pt>
                <c:pt idx="6">
                  <c:v>p6</c:v>
                </c:pt>
                <c:pt idx="7">
                  <c:v>p7</c:v>
                </c:pt>
                <c:pt idx="8">
                  <c:v>p8</c:v>
                </c:pt>
                <c:pt idx="9">
                  <c:v>p9</c:v>
                </c:pt>
                <c:pt idx="10">
                  <c:v>p10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69.3</c:v>
                </c:pt>
                <c:pt idx="1">
                  <c:v>70.83</c:v>
                </c:pt>
                <c:pt idx="2">
                  <c:v>70.53</c:v>
                </c:pt>
                <c:pt idx="3">
                  <c:v>71.66</c:v>
                </c:pt>
                <c:pt idx="4">
                  <c:v>71.97</c:v>
                </c:pt>
                <c:pt idx="5">
                  <c:v>69.54</c:v>
                </c:pt>
                <c:pt idx="6">
                  <c:v>71.31</c:v>
                </c:pt>
                <c:pt idx="7">
                  <c:v>69.01</c:v>
                </c:pt>
                <c:pt idx="8">
                  <c:v>71.13</c:v>
                </c:pt>
                <c:pt idx="9">
                  <c:v>72.1</c:v>
                </c:pt>
                <c:pt idx="10">
                  <c:v>71.53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6.0"/>
          <c:min val="30.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2118791784"/>
        <c:crosses val="autoZero"/>
        <c:majorUnit val="15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layout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p0</c:v>
                </c:pt>
                <c:pt idx="1">
                  <c:v>p1</c:v>
                </c:pt>
                <c:pt idx="2">
                  <c:v>p2</c:v>
                </c:pt>
                <c:pt idx="3">
                  <c:v>p3</c:v>
                </c:pt>
                <c:pt idx="4">
                  <c:v>p4</c:v>
                </c:pt>
                <c:pt idx="5">
                  <c:v>p5</c:v>
                </c:pt>
                <c:pt idx="6">
                  <c:v>p6</c:v>
                </c:pt>
                <c:pt idx="7">
                  <c:v>p7</c:v>
                </c:pt>
                <c:pt idx="8">
                  <c:v>p8</c:v>
                </c:pt>
                <c:pt idx="9">
                  <c:v>p9</c:v>
                </c:pt>
                <c:pt idx="10">
                  <c:v>p10</c:v>
                </c:pt>
                <c:pt idx="11">
                  <c:v>p11</c:v>
                </c:pt>
                <c:pt idx="12">
                  <c:v>p12</c:v>
                </c:pt>
                <c:pt idx="13">
                  <c:v>p13</c:v>
                </c:pt>
                <c:pt idx="14">
                  <c:v>p14</c:v>
                </c:pt>
                <c:pt idx="15">
                  <c:v>p15</c:v>
                </c:pt>
                <c:pt idx="16">
                  <c:v>p16</c:v>
                </c:pt>
                <c:pt idx="17">
                  <c:v>p17</c:v>
                </c:pt>
                <c:pt idx="18">
                  <c:v>p18</c:v>
                </c:pt>
                <c:pt idx="19">
                  <c:v>p19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65.19</c:v>
                </c:pt>
                <c:pt idx="1">
                  <c:v>66.3</c:v>
                </c:pt>
                <c:pt idx="2">
                  <c:v>66.63</c:v>
                </c:pt>
                <c:pt idx="3">
                  <c:v>66.6</c:v>
                </c:pt>
                <c:pt idx="4">
                  <c:v>65.47</c:v>
                </c:pt>
                <c:pt idx="5">
                  <c:v>66.02</c:v>
                </c:pt>
                <c:pt idx="6">
                  <c:v>65.93</c:v>
                </c:pt>
                <c:pt idx="7">
                  <c:v>67.12</c:v>
                </c:pt>
                <c:pt idx="8">
                  <c:v>66.2</c:v>
                </c:pt>
                <c:pt idx="9">
                  <c:v>68.22</c:v>
                </c:pt>
                <c:pt idx="10">
                  <c:v>64.75</c:v>
                </c:pt>
                <c:pt idx="11">
                  <c:v>59.69</c:v>
                </c:pt>
                <c:pt idx="12">
                  <c:v>61.56</c:v>
                </c:pt>
                <c:pt idx="13">
                  <c:v>64.88</c:v>
                </c:pt>
                <c:pt idx="14">
                  <c:v>63.84</c:v>
                </c:pt>
                <c:pt idx="15">
                  <c:v>64.15</c:v>
                </c:pt>
                <c:pt idx="16">
                  <c:v>62.28</c:v>
                </c:pt>
                <c:pt idx="17">
                  <c:v>64.39</c:v>
                </c:pt>
                <c:pt idx="18">
                  <c:v>59.53</c:v>
                </c:pt>
                <c:pt idx="19">
                  <c:v>58.82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style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p0</c:v>
                </c:pt>
                <c:pt idx="1">
                  <c:v>p1</c:v>
                </c:pt>
                <c:pt idx="2">
                  <c:v>p2</c:v>
                </c:pt>
                <c:pt idx="3">
                  <c:v>p3</c:v>
                </c:pt>
                <c:pt idx="4">
                  <c:v>p4</c:v>
                </c:pt>
                <c:pt idx="5">
                  <c:v>p5</c:v>
                </c:pt>
                <c:pt idx="6">
                  <c:v>p6</c:v>
                </c:pt>
                <c:pt idx="7">
                  <c:v>p7</c:v>
                </c:pt>
                <c:pt idx="8">
                  <c:v>p8</c:v>
                </c:pt>
                <c:pt idx="9">
                  <c:v>p9</c:v>
                </c:pt>
                <c:pt idx="10">
                  <c:v>p10</c:v>
                </c:pt>
                <c:pt idx="11">
                  <c:v>p11</c:v>
                </c:pt>
                <c:pt idx="12">
                  <c:v>p12</c:v>
                </c:pt>
                <c:pt idx="13">
                  <c:v>p13</c:v>
                </c:pt>
                <c:pt idx="14">
                  <c:v>p14</c:v>
                </c:pt>
                <c:pt idx="15">
                  <c:v>p15</c:v>
                </c:pt>
                <c:pt idx="16">
                  <c:v>p16</c:v>
                </c:pt>
                <c:pt idx="17">
                  <c:v>p17</c:v>
                </c:pt>
                <c:pt idx="18">
                  <c:v>p18</c:v>
                </c:pt>
                <c:pt idx="19">
                  <c:v>p19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35.65</c:v>
                </c:pt>
                <c:pt idx="1">
                  <c:v>34.57</c:v>
                </c:pt>
                <c:pt idx="2">
                  <c:v>33.76</c:v>
                </c:pt>
                <c:pt idx="3">
                  <c:v>34.2</c:v>
                </c:pt>
                <c:pt idx="4">
                  <c:v>35.97</c:v>
                </c:pt>
                <c:pt idx="5">
                  <c:v>35.53</c:v>
                </c:pt>
                <c:pt idx="6">
                  <c:v>33.75</c:v>
                </c:pt>
                <c:pt idx="7">
                  <c:v>35.22</c:v>
                </c:pt>
                <c:pt idx="8">
                  <c:v>35.97</c:v>
                </c:pt>
                <c:pt idx="9">
                  <c:v>36.06</c:v>
                </c:pt>
                <c:pt idx="10">
                  <c:v>34.93</c:v>
                </c:pt>
                <c:pt idx="11">
                  <c:v>35.36</c:v>
                </c:pt>
                <c:pt idx="12">
                  <c:v>36.64</c:v>
                </c:pt>
                <c:pt idx="13">
                  <c:v>36.15</c:v>
                </c:pt>
                <c:pt idx="14">
                  <c:v>38.28</c:v>
                </c:pt>
                <c:pt idx="15">
                  <c:v>36.79</c:v>
                </c:pt>
                <c:pt idx="16">
                  <c:v>43.05</c:v>
                </c:pt>
                <c:pt idx="17">
                  <c:v>37.0</c:v>
                </c:pt>
                <c:pt idx="18">
                  <c:v>32.84</c:v>
                </c:pt>
                <c:pt idx="19">
                  <c:v>35.81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perceptual</c:v>
                </c:pt>
              </c:strCache>
            </c:strRef>
          </c:tx>
          <c:spPr>
            <a:ln w="28575">
              <a:solidFill>
                <a:srgbClr val="1BAF7A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p0</c:v>
                </c:pt>
                <c:pt idx="1">
                  <c:v>p1</c:v>
                </c:pt>
                <c:pt idx="2">
                  <c:v>p2</c:v>
                </c:pt>
                <c:pt idx="3">
                  <c:v>p3</c:v>
                </c:pt>
                <c:pt idx="4">
                  <c:v>p4</c:v>
                </c:pt>
                <c:pt idx="5">
                  <c:v>p5</c:v>
                </c:pt>
                <c:pt idx="6">
                  <c:v>p6</c:v>
                </c:pt>
                <c:pt idx="7">
                  <c:v>p7</c:v>
                </c:pt>
                <c:pt idx="8">
                  <c:v>p8</c:v>
                </c:pt>
                <c:pt idx="9">
                  <c:v>p9</c:v>
                </c:pt>
                <c:pt idx="10">
                  <c:v>p10</c:v>
                </c:pt>
                <c:pt idx="11">
                  <c:v>p11</c:v>
                </c:pt>
                <c:pt idx="12">
                  <c:v>p12</c:v>
                </c:pt>
                <c:pt idx="13">
                  <c:v>p13</c:v>
                </c:pt>
                <c:pt idx="14">
                  <c:v>p14</c:v>
                </c:pt>
                <c:pt idx="15">
                  <c:v>p15</c:v>
                </c:pt>
                <c:pt idx="16">
                  <c:v>p16</c:v>
                </c:pt>
                <c:pt idx="17">
                  <c:v>p17</c:v>
                </c:pt>
                <c:pt idx="18">
                  <c:v>p18</c:v>
                </c:pt>
                <c:pt idx="19">
                  <c:v>p19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65.21</c:v>
                </c:pt>
                <c:pt idx="1">
                  <c:v>65.18</c:v>
                </c:pt>
                <c:pt idx="2">
                  <c:v>65.41</c:v>
                </c:pt>
                <c:pt idx="3">
                  <c:v>65.53</c:v>
                </c:pt>
                <c:pt idx="4">
                  <c:v>65.92</c:v>
                </c:pt>
                <c:pt idx="5">
                  <c:v>65.5</c:v>
                </c:pt>
                <c:pt idx="6">
                  <c:v>64.88</c:v>
                </c:pt>
                <c:pt idx="7">
                  <c:v>66.29</c:v>
                </c:pt>
                <c:pt idx="8">
                  <c:v>66.22</c:v>
                </c:pt>
                <c:pt idx="9">
                  <c:v>66.56</c:v>
                </c:pt>
                <c:pt idx="10">
                  <c:v>65.45</c:v>
                </c:pt>
                <c:pt idx="11">
                  <c:v>62.44</c:v>
                </c:pt>
                <c:pt idx="12">
                  <c:v>63.54</c:v>
                </c:pt>
                <c:pt idx="13">
                  <c:v>62.75</c:v>
                </c:pt>
                <c:pt idx="14">
                  <c:v>61.35</c:v>
                </c:pt>
                <c:pt idx="15">
                  <c:v>61.61</c:v>
                </c:pt>
                <c:pt idx="16">
                  <c:v>59.72</c:v>
                </c:pt>
                <c:pt idx="17">
                  <c:v>61.05</c:v>
                </c:pt>
                <c:pt idx="18">
                  <c:v>63.4</c:v>
                </c:pt>
                <c:pt idx="19">
                  <c:v>61.78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legibility</c:v>
                </c:pt>
              </c:strCache>
            </c:strRef>
          </c:tx>
          <c:spPr>
            <a:ln w="28575">
              <a:solidFill>
                <a:srgbClr val="EDA100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p0</c:v>
                </c:pt>
                <c:pt idx="1">
                  <c:v>p1</c:v>
                </c:pt>
                <c:pt idx="2">
                  <c:v>p2</c:v>
                </c:pt>
                <c:pt idx="3">
                  <c:v>p3</c:v>
                </c:pt>
                <c:pt idx="4">
                  <c:v>p4</c:v>
                </c:pt>
                <c:pt idx="5">
                  <c:v>p5</c:v>
                </c:pt>
                <c:pt idx="6">
                  <c:v>p6</c:v>
                </c:pt>
                <c:pt idx="7">
                  <c:v>p7</c:v>
                </c:pt>
                <c:pt idx="8">
                  <c:v>p8</c:v>
                </c:pt>
                <c:pt idx="9">
                  <c:v>p9</c:v>
                </c:pt>
                <c:pt idx="10">
                  <c:v>p10</c:v>
                </c:pt>
                <c:pt idx="11">
                  <c:v>p11</c:v>
                </c:pt>
                <c:pt idx="12">
                  <c:v>p12</c:v>
                </c:pt>
                <c:pt idx="13">
                  <c:v>p13</c:v>
                </c:pt>
                <c:pt idx="14">
                  <c:v>p14</c:v>
                </c:pt>
                <c:pt idx="15">
                  <c:v>p15</c:v>
                </c:pt>
                <c:pt idx="16">
                  <c:v>p16</c:v>
                </c:pt>
                <c:pt idx="17">
                  <c:v>p17</c:v>
                </c:pt>
                <c:pt idx="18">
                  <c:v>p18</c:v>
                </c:pt>
                <c:pt idx="19">
                  <c:v>p19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63.79</c:v>
                </c:pt>
                <c:pt idx="1">
                  <c:v>64.62</c:v>
                </c:pt>
                <c:pt idx="2">
                  <c:v>63.78</c:v>
                </c:pt>
                <c:pt idx="3">
                  <c:v>64.22</c:v>
                </c:pt>
                <c:pt idx="4">
                  <c:v>63.1</c:v>
                </c:pt>
                <c:pt idx="5">
                  <c:v>64.72</c:v>
                </c:pt>
                <c:pt idx="6">
                  <c:v>63.08</c:v>
                </c:pt>
                <c:pt idx="7">
                  <c:v>63.6</c:v>
                </c:pt>
                <c:pt idx="8">
                  <c:v>66.41</c:v>
                </c:pt>
                <c:pt idx="9">
                  <c:v>65.27</c:v>
                </c:pt>
                <c:pt idx="10">
                  <c:v>61.06</c:v>
                </c:pt>
                <c:pt idx="11">
                  <c:v>55.93</c:v>
                </c:pt>
                <c:pt idx="12">
                  <c:v>57.57</c:v>
                </c:pt>
                <c:pt idx="13">
                  <c:v>57.77</c:v>
                </c:pt>
                <c:pt idx="14">
                  <c:v>55.25</c:v>
                </c:pt>
                <c:pt idx="15">
                  <c:v>51.19</c:v>
                </c:pt>
                <c:pt idx="16">
                  <c:v>54.82</c:v>
                </c:pt>
                <c:pt idx="17">
                  <c:v>50.69</c:v>
                </c:pt>
                <c:pt idx="18">
                  <c:v>47.5</c:v>
                </c:pt>
                <c:pt idx="19">
                  <c:v>46.44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6.0"/>
          <c:min val="30.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000">
                <a:solidFill>
                  <a:srgbClr val="8B94A6"/>
                </a:solidFill>
                <a:latin typeface="Arial"/>
              </a:defRPr>
            </a:pPr>
          </a:p>
        </c:txPr>
        <c:crossAx val="2118791784"/>
        <c:crosses val="autoZero"/>
        <c:majorUnit val="15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WIDGET2CODE · DAPO · HELD-OUT PROBE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A1F2B"/>
                </a:solidFill>
                <a:latin typeface="Arial"/>
              </a:rPr>
              <a:t>DAPO Training Curves</a:t>
            </a:r>
          </a:p>
          <a:p>
            <a:pPr algn="l">
              <a:spcBef>
                <a:spcPts val="1400"/>
              </a:spcBef>
            </a:pPr>
            <a:r>
              <a:rPr sz="1900" b="0">
                <a:solidFill>
                  <a:srgbClr val="4C5566"/>
                </a:solidFill>
                <a:latin typeface="Arial"/>
              </a:rPr>
              <a:t>What online DAPO on the official widget2code reward looks like over training passes —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4C5566"/>
                </a:solidFill>
                <a:latin typeface="Arial"/>
              </a:rPr>
              <a:t>per-band held-out scores from prior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94760"/>
            <a:ext cx="10817352" cy="1371600"/>
          </a:xfrm>
          <a:prstGeom prst="roundRect">
            <a:avLst/>
          </a:prstGeom>
          <a:solidFill>
            <a:srgbClr val="FBF0F0"/>
          </a:solidFill>
          <a:ln w="12700">
            <a:solidFill>
              <a:srgbClr val="F0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794760"/>
            <a:ext cx="100584" cy="137160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950208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F2B"/>
                </a:solidFill>
                <a:latin typeface="Arial"/>
              </a:rPr>
              <a:t>These are Widget2Code 4.0 runs, not WidgetFlow.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4C5566"/>
                </a:solidFill>
                <a:latin typeface="Arial"/>
              </a:rPr>
              <a:t>WidgetFlow has only had the end-to-end smoke — no training curves yet. These prior runs share the same DAPO loop and the same official widget_quality reward, so they show the dynamics WidgetFlow's Controller + ablation-credit are built to handle.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4A6"/>
                </a:solidFill>
                <a:latin typeface="Arial"/>
              </a:rPr>
              <a:t>Source: rl_large_run_20260628 · higher-is-better (0–100) · geometry constant at 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30-HOUR RUN — HELD-OUT REWARD (60 WIDGETS, BEFORE → AFTER)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F2B"/>
                </a:solidFill>
                <a:latin typeface="Arial"/>
              </a:rPr>
              <a:t>One long run: mean reward up 30%, and dead renders nearly eliminated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383280" cy="2286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6771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B94A6"/>
                </a:solidFill>
                <a:latin typeface="Arial"/>
              </a:rPr>
              <a:t>MEAN REWARD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346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8B94A6"/>
                </a:solidFill>
                <a:latin typeface="Arial"/>
              </a:rPr>
              <a:t>0.376</a:t>
            </a:r>
            <a:r>
              <a:rPr sz="1600" b="0">
                <a:solidFill>
                  <a:srgbClr val="8B94A6"/>
                </a:solidFill>
                <a:latin typeface="Arial"/>
              </a:rPr>
              <a:t>  →  </a:t>
            </a:r>
            <a:r>
              <a:rPr sz="4000" b="1">
                <a:solidFill>
                  <a:srgbClr val="1A1F2B"/>
                </a:solidFill>
                <a:latin typeface="Arial"/>
              </a:rPr>
              <a:t>0.487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A30C"/>
                </a:solidFill>
                <a:latin typeface="Arial"/>
              </a:rPr>
              <a:t>+0.111  (+30%)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011680"/>
            <a:ext cx="3383280" cy="2286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226771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B94A6"/>
                </a:solidFill>
                <a:latin typeface="Arial"/>
              </a:rPr>
              <a:t>P25 · WORST QUARTILE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8346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8B94A6"/>
                </a:solidFill>
                <a:latin typeface="Arial"/>
              </a:rPr>
              <a:t>0.00</a:t>
            </a:r>
            <a:r>
              <a:rPr sz="1600" b="0">
                <a:solidFill>
                  <a:srgbClr val="8B94A6"/>
                </a:solidFill>
                <a:latin typeface="Arial"/>
              </a:rPr>
              <a:t>  →  </a:t>
            </a:r>
            <a:r>
              <a:rPr sz="4000" b="1">
                <a:solidFill>
                  <a:srgbClr val="1A1F2B"/>
                </a:solidFill>
                <a:latin typeface="Arial"/>
              </a:rPr>
              <a:t>0.34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794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A30C"/>
                </a:solidFill>
                <a:latin typeface="Arial"/>
              </a:rPr>
              <a:t>+0.34  fewer dead renders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6" y="2011680"/>
            <a:ext cx="3383280" cy="2286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226771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B94A6"/>
                </a:solidFill>
                <a:latin typeface="Arial"/>
              </a:rPr>
              <a:t>P75 · BEST QUARTILE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8346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8B94A6"/>
                </a:solidFill>
                <a:latin typeface="Arial"/>
              </a:rPr>
              <a:t>0.594</a:t>
            </a:r>
            <a:r>
              <a:rPr sz="1600" b="0">
                <a:solidFill>
                  <a:srgbClr val="8B94A6"/>
                </a:solidFill>
                <a:latin typeface="Arial"/>
              </a:rPr>
              <a:t>  →  </a:t>
            </a:r>
            <a:r>
              <a:rPr sz="4000" b="1">
                <a:solidFill>
                  <a:srgbClr val="1A1F2B"/>
                </a:solidFill>
                <a:latin typeface="Arial"/>
              </a:rPr>
              <a:t>0.703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794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A30C"/>
                </a:solidFill>
                <a:latin typeface="Arial"/>
              </a:rPr>
              <a:t>+0.109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3776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C5566"/>
                </a:solidFill>
                <a:latin typeface="Arial"/>
              </a:rPr>
              <a:t>The biggest gain is the worst quartile: p25 goes from 0.00 to 0.34 — the policy stops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C5566"/>
                </a:solidFill>
                <a:latin typeface="Arial"/>
              </a:rPr>
              <a:t>producing total-failure renders, before it meaningfully improves the good 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PER-BAND HELD-OUT CURVE OVER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F2B"/>
                </a:solidFill>
                <a:latin typeface="Arial"/>
              </a:rPr>
              <a:t>dapo4 · vanilla multiband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78D6"/>
                </a:solidFill>
                <a:latin typeface="Arial"/>
              </a:rPr>
              <a:t>11 passes · weak bands rise, layout gives a little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057400"/>
          <a:ext cx="10817352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989320"/>
            <a:ext cx="108173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Read it: style (+4.9) and perceptual (+4.5) climb as the reward leans on the weakest bands,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4C5566"/>
                </a:solidFill>
                <a:latin typeface="Arial"/>
              </a:rPr>
              <a:t>while layout gives back ~2 pts — a real, controlled multi-objective trade-off.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PER-BAND HELD-OUT CURVE OVER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F2B"/>
                </a:solidFill>
                <a:latin typeface="Arial"/>
              </a:rPr>
              <a:t>dapo5 · base multiband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03B3B"/>
                </a:solidFill>
                <a:latin typeface="Arial"/>
              </a:rPr>
              <a:t>20 passes · legibility collapse after ~pass 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057400"/>
          <a:ext cx="10817352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989320"/>
            <a:ext cx="108173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4C5566"/>
                </a:solidFill>
                <a:latin typeface="Arial"/>
              </a:rPr>
              <a:t>Read it: the failure mode. Legibility falls off a cliff (~64 → 46) once it isn't defended in the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4C5566"/>
                </a:solidFill>
                <a:latin typeface="Arial"/>
              </a:rPr>
              <a:t>reward — textbook reward-hacking. This is the baseline WidgetFlow's Controller + credit must beat.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Arial"/>
              </a:rPr>
              <a:t>WHAT THIS MEANS FOR WIDGETFLOW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F2B"/>
                </a:solidFill>
                <a:latin typeface="Arial"/>
              </a:rP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0584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1F2B"/>
                </a:solidFill>
                <a:latin typeface="Arial"/>
              </a:rPr>
              <a:t>DAPO on this reward works.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C5566"/>
                </a:solidFill>
                <a:latin typeface="Arial"/>
              </a:rPr>
              <a:t>30h moved held-out mean 0.38 → 0.49 and erased dead renders (p25 0 → 0.34).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999232"/>
            <a:ext cx="100584" cy="8686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99232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1F2B"/>
                </a:solidFill>
                <a:latin typeface="Arial"/>
              </a:rPr>
              <a:t>It is multi-objective and unstable.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C5566"/>
                </a:solidFill>
                <a:latin typeface="Arial"/>
              </a:rPr>
              <a:t>Gains on weak bands can be paid for elsewhere; unguarded bands can collapse (dapo5 legibility).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078224"/>
            <a:ext cx="100584" cy="8686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78224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1F2B"/>
                </a:solidFill>
                <a:latin typeface="Arial"/>
              </a:rPr>
              <a:t>This is exactly what WidgetFlow targets.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C5566"/>
                </a:solidFill>
                <a:latin typeface="Arial"/>
              </a:rPr>
              <a:t>The Controller auto-reweights the sinking band; ablation-credit steers gradient onto the responsible tokens.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157216"/>
            <a:ext cx="100584" cy="868680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157216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1F2B"/>
                </a:solidFill>
                <a:latin typeface="Arial"/>
              </a:rPr>
              <a:t>But WidgetFlow has no curve yet.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C5566"/>
                </a:solidFill>
                <a:latin typeface="Arial"/>
              </a:rPr>
              <a:t>Needs an SFT-initialized policy (base renders to ~0) + per-pass logging to produce its own trace.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